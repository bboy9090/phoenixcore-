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ef90bc6c6a4c18" /><Relationship Type="http://schemas.openxmlformats.org/officeDocument/2006/relationships/extended-properties" Target="/docProps/app.xml" Id="R6a6a4fe0ebdc405f" /><Relationship Type="http://schemas.openxmlformats.org/officeDocument/2006/relationships/officeDocument" Target="/ppt/presentation.xml" Id="R866b905b493549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03af395d3e4d6f"/>
  </p:sldMasterIdLst>
  <p:notesMasterIdLst>
    <p:notesMasterId xmlns:r="http://schemas.openxmlformats.org/officeDocument/2006/relationships" r:id="R254be4dcda104a61"/>
  </p:notesMasterIdLst>
  <p:sldIdLst>
    <p:sldId xmlns:r="http://schemas.openxmlformats.org/officeDocument/2006/relationships" id="256" r:id="Rcd05b59b4fd4453b"/>
    <p:sldId xmlns:r="http://schemas.openxmlformats.org/officeDocument/2006/relationships" id="257" r:id="Re21940f942fe4b92"/>
    <p:sldId xmlns:r="http://schemas.openxmlformats.org/officeDocument/2006/relationships" id="258" r:id="R4bd7166f39004887"/>
    <p:sldId xmlns:r="http://schemas.openxmlformats.org/officeDocument/2006/relationships" id="259" r:id="R1dc64d3c3137480c"/>
    <p:sldId xmlns:r="http://schemas.openxmlformats.org/officeDocument/2006/relationships" id="260" r:id="Raa59ad6ecae047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3af395d3e4d6f" /><Relationship Type="http://schemas.openxmlformats.org/officeDocument/2006/relationships/theme" Target="/ppt/theme/theme1.xml" Id="R26a0ae3c642a4d43" /><Relationship Type="http://schemas.openxmlformats.org/officeDocument/2006/relationships/notesMaster" Target="/ppt/notesMasters/notesMaster1.xml" Id="R254be4dcda104a61" /><Relationship Type="http://schemas.openxmlformats.org/officeDocument/2006/relationships/presProps" Target="/ppt/presProps.xml" Id="Ra0168bdec2fc4b70" /><Relationship Type="http://schemas.openxmlformats.org/officeDocument/2006/relationships/viewProps" Target="/ppt/viewProps.xml" Id="R75011aecb7fe4509" /><Relationship Type="http://schemas.openxmlformats.org/officeDocument/2006/relationships/tableStyles" Target="/ppt/tableStyles.xml" Id="Rce90fbfe347c4308" /><Relationship Type="http://schemas.openxmlformats.org/officeDocument/2006/relationships/slide" Target="/ppt/slides/slide1.xml" Id="Rcd05b59b4fd4453b" /><Relationship Type="http://schemas.openxmlformats.org/officeDocument/2006/relationships/slide" Target="/ppt/slides/slide2.xml" Id="Re21940f942fe4b92" /><Relationship Type="http://schemas.openxmlformats.org/officeDocument/2006/relationships/slide" Target="/ppt/slides/slide3.xml" Id="R4bd7166f39004887" /><Relationship Type="http://schemas.openxmlformats.org/officeDocument/2006/relationships/slide" Target="/ppt/slides/slide4.xml" Id="R1dc64d3c3137480c" /><Relationship Type="http://schemas.openxmlformats.org/officeDocument/2006/relationships/slide" Target="/ppt/slides/slide5.xml" Id="Raa59ad6ecae047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dcb212d391645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82440f75cc4644" /><Relationship Type="http://schemas.openxmlformats.org/officeDocument/2006/relationships/notesMaster" Target="/ppt/notesMasters/notesMaster1.xml" Id="R6ae7d626f4bd46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eb63bf7d2f4330" /><Relationship Type="http://schemas.openxmlformats.org/officeDocument/2006/relationships/notesMaster" Target="/ppt/notesMasters/notesMaster1.xml" Id="R21840657c76d45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5266b3e6ce4e1c" /><Relationship Type="http://schemas.openxmlformats.org/officeDocument/2006/relationships/notesMaster" Target="/ppt/notesMasters/notesMaster1.xml" Id="R15a148c75a7147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e266bc84f04d4a" /><Relationship Type="http://schemas.openxmlformats.org/officeDocument/2006/relationships/notesMaster" Target="/ppt/notesMasters/notesMaster1.xml" Id="R8db0f781eef54b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3190e95ba8448c" /><Relationship Type="http://schemas.openxmlformats.org/officeDocument/2006/relationships/notesMaster" Target="/ppt/notesMasters/notesMaster1.xml" Id="R51e6c97f33fc4b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952e160ed4be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644b915335143fa" /><Relationship Type="http://schemas.openxmlformats.org/officeDocument/2006/relationships/slideLayout" Target="/ppt/slideLayouts/slideLayout2.xml" Id="Rf198de21610f43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98de21610f43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27bd036e7140ae" /><Relationship Type="http://schemas.openxmlformats.org/officeDocument/2006/relationships/notesSlide" Target="/ppt/notesSlides/notesSlide1.xml" Id="R896092cf8fb34a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3399c59f0042d1" /><Relationship Type="http://schemas.openxmlformats.org/officeDocument/2006/relationships/notesSlide" Target="/ppt/notesSlides/notesSlide2.xml" Id="Ra0872dd511664c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154ed511d74038" /><Relationship Type="http://schemas.openxmlformats.org/officeDocument/2006/relationships/notesSlide" Target="/ppt/notesSlides/notesSlide3.xml" Id="R8894e6964bd444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ae03e913d245ef" /><Relationship Type="http://schemas.openxmlformats.org/officeDocument/2006/relationships/image" Target="/ppt/media/image.png" Id="Rad19a5903d5e482c" /><Relationship Type="http://schemas.openxmlformats.org/officeDocument/2006/relationships/notesSlide" Target="/ppt/notesSlides/notesSlide4.xml" Id="R7954397fab4b46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efb8ff1e684dc7" /><Relationship Type="http://schemas.openxmlformats.org/officeDocument/2006/relationships/notesSlide" Target="/ppt/notesSlides/notesSlide5.xml" Id="Rc31b10c84abb46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DFA5106-0188-41AF-A2D9-957D05FE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solidFill>
              <a:srgbClr val="071321"/>
            </a:solidFill>
            <a:prstDash val="solid"/>
          </a:ln>
        </p:spPr>
      </p:sp>
      <p:sp>
        <p:nvSpPr>
          <p:cNvPr id="2" name="outer-frame">
            <a:extLst xmlns:a="http://schemas.openxmlformats.org/drawingml/2006/main">
              <a:ext uri="{FF2B5EF4-FFF2-40B4-BE49-F238E27FC236}">
                <a16:creationId xmlns:a16="http://schemas.microsoft.com/office/drawing/2014/main" id="{0CC99D13-EF01-4BA5-AE33-D83167B4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FE630AE-6A5F-44CC-9CB5-7FC5E90F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A4FF"/>
                </a:solidFill>
                <a:latin typeface="Roboto Mono"/>
                <a:ea typeface="Roboto Mono"/>
                <a:cs typeface="Roboto Mono"/>
              </a:defRPr>
            </a:pPr>
            <a:r>
              <a:rPr sz="975" b="1">
                <a:solidFill>
                  <a:srgbClr val="63A4FF"/>
                </a:solidFill>
                <a:latin typeface="Roboto Mono"/>
                <a:ea typeface="Roboto Mono"/>
                <a:cs typeface="Roboto Mono"/>
              </a:rPr>
              <a:t>BWOS / BLUE PHOENIX 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1CA023-200D-424C-8E93-7C159DD8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676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Five editions. One platform.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2A374A8-A1CF-4D74-B3B3-A0DB7B23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6762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Home is the only active edition with a visually confirmed desktop. The rest stay blocked until their own boot evidence exists.</a:t>
            </a:r>
          </a:p>
        </p:txBody>
      </p:sp>
      <p:sp>
        <p:nvSpPr>
          <p:cNvPr id="6" name="truth-card">
            <a:extLst xmlns:a="http://schemas.openxmlformats.org/drawingml/2006/main">
              <a:ext uri="{FF2B5EF4-FFF2-40B4-BE49-F238E27FC236}">
                <a16:creationId xmlns:a16="http://schemas.microsoft.com/office/drawing/2014/main" id="{633EDA96-14D8-46D4-841E-35E0EB82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2450"/>
            <a:ext cx="34290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2D7C9D9-7CE2-4DF1-BE73-686754AF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24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4FF"/>
          </a:solidFill>
          <a:ln xmlns:a="http://schemas.openxmlformats.org/drawingml/2006/main" w="0">
            <a:solidFill>
              <a:srgbClr val="63A4FF"/>
            </a:solidFill>
            <a:prstDash val="solid"/>
          </a:ln>
        </p:spPr>
      </p:sp>
      <p:sp>
        <p:nvSpPr>
          <p:cNvPr id="8" name="card-label">
            <a:extLst xmlns:a="http://schemas.openxmlformats.org/drawingml/2006/main">
              <a:ext uri="{FF2B5EF4-FFF2-40B4-BE49-F238E27FC236}">
                <a16:creationId xmlns:a16="http://schemas.microsoft.com/office/drawing/2014/main" id="{27D60B82-4A2A-41BA-8F61-A710A996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8580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A4FF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63A4FF"/>
                </a:solidFill>
                <a:latin typeface="Roboto Mono"/>
                <a:ea typeface="Roboto Mono"/>
                <a:cs typeface="Roboto Mono"/>
              </a:rPr>
              <a:t>CURRENT TRUTH</a:t>
            </a:r>
          </a:p>
        </p:txBody>
      </p:sp>
      <p:sp>
        <p:nvSpPr>
          <p:cNvPr id="9" name="bullet">
            <a:extLst xmlns:a="http://schemas.openxmlformats.org/drawingml/2006/main">
              <a:ext uri="{FF2B5EF4-FFF2-40B4-BE49-F238E27FC236}">
                <a16:creationId xmlns:a16="http://schemas.microsoft.com/office/drawing/2014/main" id="{AAE2B800-BA4F-44B9-9B97-DADA33F6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95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58E"/>
          </a:solidFill>
          <a:ln xmlns:a="http://schemas.openxmlformats.org/drawingml/2006/main" w="0">
            <a:solidFill>
              <a:srgbClr val="48C58E"/>
            </a:solidFill>
            <a:prstDash val="solid"/>
          </a:ln>
        </p:spPr>
      </p:sp>
      <p:sp>
        <p:nvSpPr>
          <p:cNvPr id="10" name="bullet-line">
            <a:extLst xmlns:a="http://schemas.openxmlformats.org/drawingml/2006/main">
              <a:ext uri="{FF2B5EF4-FFF2-40B4-BE49-F238E27FC236}">
                <a16:creationId xmlns:a16="http://schemas.microsoft.com/office/drawing/2014/main" id="{70E95462-B536-42F4-AD42-BF940428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28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C58E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48C58E"/>
                </a:solidFill>
                <a:latin typeface="Roboto"/>
                <a:ea typeface="Roboto"/>
                <a:cs typeface="Roboto"/>
              </a:rPr>
              <a:t>Home: BOOT_PASS_DESKTOP / desktop confirmed</a:t>
            </a:r>
          </a:p>
        </p:txBody>
      </p:sp>
      <p:sp>
        <p:nvSpPr>
          <p:cNvPr id="11" name="bullet">
            <a:extLst xmlns:a="http://schemas.openxmlformats.org/drawingml/2006/main">
              <a:ext uri="{FF2B5EF4-FFF2-40B4-BE49-F238E27FC236}">
                <a16:creationId xmlns:a16="http://schemas.microsoft.com/office/drawing/2014/main" id="{7E60F386-8F1E-43A7-B5F1-3BB7DF71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76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12" name="bullet-line">
            <a:extLst xmlns:a="http://schemas.openxmlformats.org/drawingml/2006/main">
              <a:ext uri="{FF2B5EF4-FFF2-40B4-BE49-F238E27FC236}">
                <a16:creationId xmlns:a16="http://schemas.microsoft.com/office/drawing/2014/main" id="{07292829-E8B0-40C6-8A2F-F49F7F62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09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A45C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D7A45C"/>
                </a:solidFill>
                <a:latin typeface="Roboto"/>
                <a:ea typeface="Roboto"/>
                <a:cs typeface="Roboto"/>
              </a:rPr>
              <a:t>Thunder God: BOOT_PASS_BOOTLOADER_ONLY</a:t>
            </a:r>
          </a:p>
        </p:txBody>
      </p:sp>
      <p:sp>
        <p:nvSpPr>
          <p:cNvPr id="13" name="bullet">
            <a:extLst xmlns:a="http://schemas.openxmlformats.org/drawingml/2006/main">
              <a:ext uri="{FF2B5EF4-FFF2-40B4-BE49-F238E27FC236}">
                <a16:creationId xmlns:a16="http://schemas.microsoft.com/office/drawing/2014/main" id="{81892AB9-4F4D-46E8-B752-B0895D4F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57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14" name="bullet-line">
            <a:extLst xmlns:a="http://schemas.openxmlformats.org/drawingml/2006/main">
              <a:ext uri="{FF2B5EF4-FFF2-40B4-BE49-F238E27FC236}">
                <a16:creationId xmlns:a16="http://schemas.microsoft.com/office/drawing/2014/main" id="{28008017-286F-4A93-AE35-4CFDE195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A45C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D7A45C"/>
                </a:solidFill>
                <a:latin typeface="Roboto"/>
                <a:ea typeface="Roboto"/>
                <a:cs typeface="Roboto"/>
              </a:rPr>
              <a:t>Aurelia: BOOT_PASS_BOOTLOADER_ONLY</a:t>
            </a:r>
          </a:p>
        </p:txBody>
      </p:sp>
      <p:sp>
        <p:nvSpPr>
          <p:cNvPr id="15" name="bullet">
            <a:extLst xmlns:a="http://schemas.openxmlformats.org/drawingml/2006/main">
              <a:ext uri="{FF2B5EF4-FFF2-40B4-BE49-F238E27FC236}">
                <a16:creationId xmlns:a16="http://schemas.microsoft.com/office/drawing/2014/main" id="{C88A87EB-78E1-4839-8958-257688AB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38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16" name="bullet-line">
            <a:extLst xmlns:a="http://schemas.openxmlformats.org/drawingml/2006/main">
              <a:ext uri="{FF2B5EF4-FFF2-40B4-BE49-F238E27FC236}">
                <a16:creationId xmlns:a16="http://schemas.microsoft.com/office/drawing/2014/main" id="{7367FE55-3D7B-4CDA-8EB1-110E8460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71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A45C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D7A45C"/>
                </a:solidFill>
                <a:latin typeface="Roboto"/>
                <a:ea typeface="Roboto"/>
                <a:cs typeface="Roboto"/>
              </a:rPr>
              <a:t>ARCWYRE: BOOT_PASS_BOOTLOADER_ONLY</a:t>
            </a:r>
          </a:p>
        </p:txBody>
      </p:sp>
      <p:sp>
        <p:nvSpPr>
          <p:cNvPr id="17" name="bullet">
            <a:extLst xmlns:a="http://schemas.openxmlformats.org/drawingml/2006/main">
              <a:ext uri="{FF2B5EF4-FFF2-40B4-BE49-F238E27FC236}">
                <a16:creationId xmlns:a16="http://schemas.microsoft.com/office/drawing/2014/main" id="{FE67F1D2-52CF-4D58-9B5C-27781A79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19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A9B7"/>
          </a:solidFill>
          <a:ln xmlns:a="http://schemas.openxmlformats.org/drawingml/2006/main" w="0">
            <a:solidFill>
              <a:srgbClr val="9DA9B7"/>
            </a:solidFill>
            <a:prstDash val="solid"/>
          </a:ln>
        </p:spPr>
      </p:sp>
      <p:sp>
        <p:nvSpPr>
          <p:cNvPr id="18" name="bullet-line">
            <a:extLst xmlns:a="http://schemas.openxmlformats.org/drawingml/2006/main">
              <a:ext uri="{FF2B5EF4-FFF2-40B4-BE49-F238E27FC236}">
                <a16:creationId xmlns:a16="http://schemas.microsoft.com/office/drawing/2014/main" id="{C3FCBC72-CA8F-4969-9553-7B1114CD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Native: research-only / not boot-matrix tracked</a:t>
            </a:r>
          </a:p>
        </p:txBody>
      </p:sp>
      <p:sp>
        <p:nvSpPr>
          <p:cNvPr id="19" name="status-card">
            <a:extLst xmlns:a="http://schemas.openxmlformats.org/drawingml/2006/main">
              <a:ext uri="{FF2B5EF4-FFF2-40B4-BE49-F238E27FC236}">
                <a16:creationId xmlns:a16="http://schemas.microsoft.com/office/drawing/2014/main" id="{A8027445-977B-4786-ACC9-A3ADEC52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108966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2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E887EF3-9A5A-4828-BE45-B8A2A556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1089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21" name="card-label">
            <a:extLst xmlns:a="http://schemas.openxmlformats.org/drawingml/2006/main">
              <a:ext uri="{FF2B5EF4-FFF2-40B4-BE49-F238E27FC236}">
                <a16:creationId xmlns:a16="http://schemas.microsoft.com/office/drawing/2014/main" id="{BFDA0B88-C323-469B-96EB-F31D80B8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059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A45C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D7A45C"/>
                </a:solidFill>
                <a:latin typeface="Roboto Mono"/>
                <a:ea typeface="Roboto Mono"/>
                <a:cs typeface="Roboto Mono"/>
              </a:rPr>
              <a:t>RELEASE POSTURE AND SOURCE OF TRUTH</a:t>
            </a:r>
          </a:p>
        </p:txBody>
      </p:sp>
      <p:sp>
        <p:nvSpPr>
          <p:cNvPr id="22" name="small-caps">
            <a:extLst xmlns:a="http://schemas.openxmlformats.org/drawingml/2006/main">
              <a:ext uri="{FF2B5EF4-FFF2-40B4-BE49-F238E27FC236}">
                <a16:creationId xmlns:a16="http://schemas.microsoft.com/office/drawing/2014/main" id="{6268931E-A692-42A9-8EB0-E2E21639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A9B7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9DA9B7"/>
                </a:solidFill>
                <a:latin typeface="Roboto Mono"/>
                <a:ea typeface="Roboto Mono"/>
                <a:cs typeface="Roboto Mono"/>
              </a:rPr>
              <a:t>OBSERVED STATE</a:t>
            </a:r>
          </a:p>
        </p:txBody>
      </p:sp>
      <p:sp>
        <p:nvSpPr>
          <p:cNvPr id="23" name="observed-state">
            <a:extLst xmlns:a="http://schemas.openxmlformats.org/drawingml/2006/main">
              <a:ext uri="{FF2B5EF4-FFF2-40B4-BE49-F238E27FC236}">
                <a16:creationId xmlns:a16="http://schemas.microsoft.com/office/drawing/2014/main" id="{E0266D44-D6F2-41C6-87E4-9617C854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857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4F7FB"/>
                </a:solidFill>
                <a:latin typeface="Roboto"/>
                <a:ea typeface="Roboto"/>
                <a:cs typeface="Roboto"/>
              </a:rPr>
              <a:t>Home has reached the live Plasma desktop in QEMU x86_64 UEFI.</a:t>
            </a:r>
          </a:p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F4F7FB"/>
                </a:solidFill>
                <a:latin typeface="Roboto"/>
                <a:ea typeface="Roboto"/>
                <a:cs typeface="Roboto"/>
              </a:rPr>
              <a:t>Kernel, initramfs, and display manager are all observed. Clean shutdown is still unverified.</a:t>
            </a:r>
          </a:p>
        </p:txBody>
      </p:sp>
      <p:sp>
        <p:nvSpPr>
          <p:cNvPr id="24" name="small-caps">
            <a:extLst xmlns:a="http://schemas.openxmlformats.org/drawingml/2006/main">
              <a:ext uri="{FF2B5EF4-FFF2-40B4-BE49-F238E27FC236}">
                <a16:creationId xmlns:a16="http://schemas.microsoft.com/office/drawing/2014/main" id="{DBDB337F-69E2-4782-B4F1-C72B4CBC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A9B7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9DA9B7"/>
                </a:solidFill>
                <a:latin typeface="Roboto Mono"/>
                <a:ea typeface="Roboto Mono"/>
                <a:cs typeface="Roboto Mono"/>
              </a:rPr>
              <a:t>NEXT GATES</a:t>
            </a:r>
          </a:p>
        </p:txBody>
      </p:sp>
      <p:sp>
        <p:nvSpPr>
          <p:cNvPr id="25" name="next-gates">
            <a:extLst xmlns:a="http://schemas.openxmlformats.org/drawingml/2006/main">
              <a:ext uri="{FF2B5EF4-FFF2-40B4-BE49-F238E27FC236}">
                <a16:creationId xmlns:a16="http://schemas.microsoft.com/office/drawing/2014/main" id="{CF544F96-D2DA-4FD6-B74A-24B1A307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05200"/>
            <a:ext cx="4572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F4F7FB"/>
                </a:solidFill>
                <a:latin typeface="Roboto"/>
                <a:ea typeface="Roboto"/>
                <a:cs typeface="Roboto"/>
              </a:rPr>
              <a:t>1. Verify clean shutdown on Home.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F4F7FB"/>
                </a:solidFill>
                <a:latin typeface="Roboto"/>
                <a:ea typeface="Roboto"/>
                <a:cs typeface="Roboto"/>
              </a:rPr>
              <a:t>2. Build Thunder God for arm64.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F4F7FB"/>
                </a:solidFill>
                <a:latin typeface="Roboto"/>
                <a:ea typeface="Roboto"/>
                <a:cs typeface="Roboto"/>
              </a:rPr>
              <a:t>3. Move PR40 app launch validation into the active matrix.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F4F7FB"/>
                </a:solidFill>
                <a:latin typeface="Roboto"/>
                <a:ea typeface="Roboto"/>
                <a:cs typeface="Roboto"/>
              </a:rPr>
              <a:t>4. Keep PR41 blocked until telemetry, boot, and app evidence agree.</a:t>
            </a:r>
          </a:p>
        </p:txBody>
      </p:sp>
      <p:sp>
        <p:nvSpPr>
          <p:cNvPr id="26" name="pill">
            <a:extLst xmlns:a="http://schemas.openxmlformats.org/drawingml/2006/main">
              <a:ext uri="{FF2B5EF4-FFF2-40B4-BE49-F238E27FC236}">
                <a16:creationId xmlns:a16="http://schemas.microsoft.com/office/drawing/2014/main" id="{DE41A874-6A6C-42A4-8DF5-069295F4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F7A"/>
          </a:solidFill>
          <a:ln xmlns:a="http://schemas.openxmlformats.org/drawingml/2006/main" w="9525">
            <a:solidFill>
              <a:srgbClr val="E26F7A"/>
            </a:solidFill>
            <a:prstDash val="solid"/>
          </a:ln>
        </p:spPr>
      </p:sp>
      <p:sp>
        <p:nvSpPr>
          <p:cNvPr id="27" name="pill-text">
            <a:extLst xmlns:a="http://schemas.openxmlformats.org/drawingml/2006/main">
              <a:ext uri="{FF2B5EF4-FFF2-40B4-BE49-F238E27FC236}">
                <a16:creationId xmlns:a16="http://schemas.microsoft.com/office/drawing/2014/main" id="{9313A20B-AF1B-451E-9768-293E86A6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release_blocked</a:t>
            </a:r>
          </a:p>
        </p:txBody>
      </p:sp>
      <p:sp>
        <p:nvSpPr>
          <p:cNvPr id="28" name="pill">
            <a:extLst xmlns:a="http://schemas.openxmlformats.org/drawingml/2006/main">
              <a:ext uri="{FF2B5EF4-FFF2-40B4-BE49-F238E27FC236}">
                <a16:creationId xmlns:a16="http://schemas.microsoft.com/office/drawing/2014/main" id="{C93989B0-565F-442D-9DDC-5F900DA0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6250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58E"/>
          </a:solidFill>
          <a:ln xmlns:a="http://schemas.openxmlformats.org/drawingml/2006/main" w="9525">
            <a:solidFill>
              <a:srgbClr val="48C58E"/>
            </a:solidFill>
            <a:prstDash val="solid"/>
          </a:ln>
        </p:spPr>
      </p:sp>
      <p:sp>
        <p:nvSpPr>
          <p:cNvPr id="29" name="pill-text">
            <a:extLst xmlns:a="http://schemas.openxmlformats.org/drawingml/2006/main">
              <a:ext uri="{FF2B5EF4-FFF2-40B4-BE49-F238E27FC236}">
                <a16:creationId xmlns:a16="http://schemas.microsoft.com/office/drawing/2014/main" id="{305F8353-740D-48B7-A82B-5242467B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00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desktop_passed</a:t>
            </a:r>
          </a:p>
        </p:txBody>
      </p:sp>
      <p:sp>
        <p:nvSpPr>
          <p:cNvPr id="30" name="pill">
            <a:extLst xmlns:a="http://schemas.openxmlformats.org/drawingml/2006/main">
              <a:ext uri="{FF2B5EF4-FFF2-40B4-BE49-F238E27FC236}">
                <a16:creationId xmlns:a16="http://schemas.microsoft.com/office/drawing/2014/main" id="{FA71AD5D-B750-4D6F-856F-FAC8ACA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6250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132B45"/>
            </a:solidFill>
            <a:prstDash val="solid"/>
          </a:ln>
        </p:spPr>
      </p:sp>
      <p:sp>
        <p:nvSpPr>
          <p:cNvPr id="31" name="pill-text">
            <a:extLst xmlns:a="http://schemas.openxmlformats.org/drawingml/2006/main">
              <a:ext uri="{FF2B5EF4-FFF2-40B4-BE49-F238E27FC236}">
                <a16:creationId xmlns:a16="http://schemas.microsoft.com/office/drawing/2014/main" id="{F4CF29CD-FDB1-4C23-BA3F-D72D1F2B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006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shutdown_pending</a:t>
            </a:r>
          </a:p>
        </p:txBody>
      </p:sp>
      <p:sp>
        <p:nvSpPr>
          <p:cNvPr id="32" name="pill">
            <a:extLst xmlns:a="http://schemas.openxmlformats.org/drawingml/2006/main">
              <a:ext uri="{FF2B5EF4-FFF2-40B4-BE49-F238E27FC236}">
                <a16:creationId xmlns:a16="http://schemas.microsoft.com/office/drawing/2014/main" id="{43C1D716-3509-446A-A3A1-BE8630BD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4FF"/>
          </a:solidFill>
          <a:ln xmlns:a="http://schemas.openxmlformats.org/drawingml/2006/main" w="9525">
            <a:solidFill>
              <a:srgbClr val="63A4FF"/>
            </a:solidFill>
            <a:prstDash val="solid"/>
          </a:ln>
        </p:spPr>
      </p:sp>
      <p:sp>
        <p:nvSpPr>
          <p:cNvPr id="33" name="pill-text">
            <a:extLst xmlns:a="http://schemas.openxmlformats.org/drawingml/2006/main">
              <a:ext uri="{FF2B5EF4-FFF2-40B4-BE49-F238E27FC236}">
                <a16:creationId xmlns:a16="http://schemas.microsoft.com/office/drawing/2014/main" id="{0C4A899C-B361-4EB5-87DE-53E2ABDE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006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telemetry_recorded</a:t>
            </a:r>
          </a:p>
        </p:txBody>
      </p:sp>
      <p:sp>
        <p:nvSpPr>
          <p:cNvPr id="34" name="pill">
            <a:extLst xmlns:a="http://schemas.openxmlformats.org/drawingml/2006/main">
              <a:ext uri="{FF2B5EF4-FFF2-40B4-BE49-F238E27FC236}">
                <a16:creationId xmlns:a16="http://schemas.microsoft.com/office/drawing/2014/main" id="{FF61B9EB-7708-48D4-B42C-03BAAEC6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35" name="pill-text">
            <a:extLst xmlns:a="http://schemas.openxmlformats.org/drawingml/2006/main">
              <a:ext uri="{FF2B5EF4-FFF2-40B4-BE49-F238E27FC236}">
                <a16:creationId xmlns:a16="http://schemas.microsoft.com/office/drawing/2014/main" id="{49E65289-C5E2-4196-B82F-FA15C999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DA9B7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9DA9B7"/>
                </a:solidFill>
                <a:latin typeface="Roboto Mono"/>
                <a:ea typeface="Roboto Mono"/>
                <a:cs typeface="Roboto Mono"/>
              </a:rPr>
              <a:t>retired archived</a:t>
            </a:r>
          </a:p>
        </p:txBody>
      </p:sp>
      <p:sp>
        <p:nvSpPr>
          <p:cNvPr id="3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7B0DAFD-1729-4744-B649-3131BC2C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971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9DA9B7"/>
                </a:solidFill>
                <a:latin typeface="Roboto Mono"/>
                <a:ea typeface="Roboto Mono"/>
                <a:cs typeface="Roboto Mono"/>
              </a:rPr>
              <a:t>Source of truth: iso/BOOT_MATRIX.md • iso/ARTIFACTS.md • iso/outputs/manifest.json • iso/outputs/vm-boot-matrix.json</a:t>
            </a:r>
          </a:p>
        </p:txBody>
      </p:sp>
    </p:spTree>
    <p:extLst>
      <p:ext uri="{BB962C8B-B14F-4D97-AF65-F5344CB8AC3E}">
        <p14:creationId xmlns:p14="http://schemas.microsoft.com/office/powerpoint/2010/main" val="6554630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BE62559-4556-4D92-A37F-6F99FB44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solidFill>
              <a:srgbClr val="071321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1A80559-A068-4A9D-9E52-69A4B13E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A4FF"/>
                </a:solidFill>
                <a:latin typeface="Roboto Mono"/>
                <a:ea typeface="Roboto Mono"/>
                <a:cs typeface="Roboto Mono"/>
              </a:defRPr>
            </a:pPr>
            <a:r>
              <a:rPr sz="975" b="1">
                <a:solidFill>
                  <a:srgbClr val="63A4FF"/>
                </a:solidFill>
                <a:latin typeface="Roboto Mono"/>
                <a:ea typeface="Roboto Mono"/>
                <a:cs typeface="Roboto Mono"/>
              </a:rPr>
              <a:t>ACTIVE LINEUP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FFAE90-AC30-4B98-8324-D4E28E29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The active lineup is intentionally small.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2B244FF-7259-4F9A-A5AA-34D28BF2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Four shipping editions plus Native as research-only. That keeps the build, boot, telemetry, and release burden survivable.</a:t>
            </a:r>
          </a:p>
        </p:txBody>
      </p:sp>
      <p:sp>
        <p:nvSpPr>
          <p:cNvPr id="5" name="Home">
            <a:extLst xmlns:a="http://schemas.openxmlformats.org/drawingml/2006/main">
              <a:ext uri="{FF2B5EF4-FFF2-40B4-BE49-F238E27FC236}">
                <a16:creationId xmlns:a16="http://schemas.microsoft.com/office/drawing/2014/main" id="{504EEFBB-4EA8-42F7-83E2-DFA247F4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335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63A4FF"/>
            </a:solidFill>
            <a:prstDash val="solid"/>
          </a:ln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A3A7679-A6C7-42FE-BD0F-DFAA6899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335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4FF"/>
          </a:solidFill>
          <a:ln xmlns:a="http://schemas.openxmlformats.org/drawingml/2006/main" w="0">
            <a:solidFill>
              <a:srgbClr val="63A4FF"/>
            </a:solidFill>
            <a:prstDash val="solid"/>
          </a:ln>
        </p:spPr>
      </p:sp>
      <p:sp>
        <p:nvSpPr>
          <p:cNvPr id="7" name="card-label">
            <a:extLst xmlns:a="http://schemas.openxmlformats.org/drawingml/2006/main">
              <a:ext uri="{FF2B5EF4-FFF2-40B4-BE49-F238E27FC236}">
                <a16:creationId xmlns:a16="http://schemas.microsoft.com/office/drawing/2014/main" id="{843126A1-5E64-4F5F-811D-8DC10F4D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A4FF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63A4FF"/>
                </a:solidFill>
                <a:latin typeface="Roboto Mono"/>
                <a:ea typeface="Roboto Mono"/>
                <a:cs typeface="Roboto Mono"/>
              </a:rPr>
              <a:t>HOME</a:t>
            </a:r>
          </a:p>
        </p:txBody>
      </p:sp>
      <p:sp>
        <p:nvSpPr>
          <p:cNvPr id="8" name="role">
            <a:extLst xmlns:a="http://schemas.openxmlformats.org/drawingml/2006/main">
              <a:ext uri="{FF2B5EF4-FFF2-40B4-BE49-F238E27FC236}">
                <a16:creationId xmlns:a16="http://schemas.microsoft.com/office/drawing/2014/main" id="{FC990F05-4041-4191-A6F6-024206C6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Mainstream stable desktop</a:t>
            </a:r>
          </a:p>
        </p:txBody>
      </p:sp>
      <p:sp>
        <p:nvSpPr>
          <p:cNvPr id="9" name="detail">
            <a:extLst xmlns:a="http://schemas.openxmlformats.org/drawingml/2006/main">
              <a:ext uri="{FF2B5EF4-FFF2-40B4-BE49-F238E27FC236}">
                <a16:creationId xmlns:a16="http://schemas.microsoft.com/office/drawing/2014/main" id="{E7B8E0D0-1114-40D0-A96C-D4CD16F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The baseline: live desktop reached in QEMU x86_64 UEFI.</a:t>
            </a:r>
          </a:p>
        </p:txBody>
      </p:sp>
      <p:sp>
        <p:nvSpPr>
          <p:cNvPr id="10" name="pill">
            <a:extLst xmlns:a="http://schemas.openxmlformats.org/drawingml/2006/main">
              <a:ext uri="{FF2B5EF4-FFF2-40B4-BE49-F238E27FC236}">
                <a16:creationId xmlns:a16="http://schemas.microsoft.com/office/drawing/2014/main" id="{19515219-D38C-41A0-8B34-AAD9199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4FF"/>
          </a:solidFill>
          <a:ln xmlns:a="http://schemas.openxmlformats.org/drawingml/2006/main" w="9525">
            <a:solidFill>
              <a:srgbClr val="63A4FF"/>
            </a:solidFill>
            <a:prstDash val="solid"/>
          </a:ln>
        </p:spPr>
      </p:sp>
      <p:sp>
        <p:nvSpPr>
          <p:cNvPr id="11" name="pill-text">
            <a:extLst xmlns:a="http://schemas.openxmlformats.org/drawingml/2006/main">
              <a:ext uri="{FF2B5EF4-FFF2-40B4-BE49-F238E27FC236}">
                <a16:creationId xmlns:a16="http://schemas.microsoft.com/office/drawing/2014/main" id="{E21D7CA2-A8AE-4D20-B29F-3405313F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desktop proven</a:t>
            </a:r>
          </a:p>
        </p:txBody>
      </p:sp>
      <p:sp>
        <p:nvSpPr>
          <p:cNvPr id="12" name="Thunder God">
            <a:extLst xmlns:a="http://schemas.openxmlformats.org/drawingml/2006/main">
              <a:ext uri="{FF2B5EF4-FFF2-40B4-BE49-F238E27FC236}">
                <a16:creationId xmlns:a16="http://schemas.microsoft.com/office/drawing/2014/main" id="{08B0DE43-33B2-4937-83B9-68A60DFD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335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8A73FF"/>
            </a:solidFill>
            <a:prstDash val="solid"/>
          </a:ln>
        </p:spPr>
      </p:sp>
      <p:sp>
        <p:nvSpPr>
          <p:cNvPr id="13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08155D7-3002-4510-BED2-54D3A378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335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3FF"/>
          </a:solidFill>
          <a:ln xmlns:a="http://schemas.openxmlformats.org/drawingml/2006/main" w="0">
            <a:solidFill>
              <a:srgbClr val="8A73FF"/>
            </a:solidFill>
            <a:prstDash val="solid"/>
          </a:ln>
        </p:spPr>
      </p:sp>
      <p:sp>
        <p:nvSpPr>
          <p:cNvPr id="14" name="card-label">
            <a:extLst xmlns:a="http://schemas.openxmlformats.org/drawingml/2006/main">
              <a:ext uri="{FF2B5EF4-FFF2-40B4-BE49-F238E27FC236}">
                <a16:creationId xmlns:a16="http://schemas.microsoft.com/office/drawing/2014/main" id="{0797B0FC-1D2B-48FB-8D42-6FD46AAF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73FF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8A73FF"/>
                </a:solidFill>
                <a:latin typeface="Roboto Mono"/>
                <a:ea typeface="Roboto Mono"/>
                <a:cs typeface="Roboto Mono"/>
              </a:rPr>
              <a:t>THUNDER GOD</a:t>
            </a:r>
          </a:p>
        </p:txBody>
      </p:sp>
      <p:sp>
        <p:nvSpPr>
          <p:cNvPr id="15" name="role">
            <a:extLst xmlns:a="http://schemas.openxmlformats.org/drawingml/2006/main">
              <a:ext uri="{FF2B5EF4-FFF2-40B4-BE49-F238E27FC236}">
                <a16:creationId xmlns:a16="http://schemas.microsoft.com/office/drawing/2014/main" id="{4D429C0D-F585-4B7C-B3C1-B44E6879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Flagship performance edition</a:t>
            </a:r>
          </a:p>
        </p:txBody>
      </p:sp>
      <p:sp>
        <p:nvSpPr>
          <p:cNvPr id="16" name="detail">
            <a:extLst xmlns:a="http://schemas.openxmlformats.org/drawingml/2006/main">
              <a:ext uri="{FF2B5EF4-FFF2-40B4-BE49-F238E27FC236}">
                <a16:creationId xmlns:a16="http://schemas.microsoft.com/office/drawing/2014/main" id="{18699F2D-3488-4160-8EA8-66B945CF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The premium ARM target. Build and desktop proof still need to be earned.</a:t>
            </a:r>
          </a:p>
        </p:txBody>
      </p:sp>
      <p:sp>
        <p:nvSpPr>
          <p:cNvPr id="17" name="pill">
            <a:extLst xmlns:a="http://schemas.openxmlformats.org/drawingml/2006/main">
              <a:ext uri="{FF2B5EF4-FFF2-40B4-BE49-F238E27FC236}">
                <a16:creationId xmlns:a16="http://schemas.microsoft.com/office/drawing/2014/main" id="{DBE01C00-4438-4A9B-9A79-84E69025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3FF"/>
          </a:solidFill>
          <a:ln xmlns:a="http://schemas.openxmlformats.org/drawingml/2006/main" w="9525">
            <a:solidFill>
              <a:srgbClr val="8A73FF"/>
            </a:solidFill>
            <a:prstDash val="solid"/>
          </a:ln>
        </p:spPr>
      </p:sp>
      <p:sp>
        <p:nvSpPr>
          <p:cNvPr id="18" name="pill-text">
            <a:extLst xmlns:a="http://schemas.openxmlformats.org/drawingml/2006/main">
              <a:ext uri="{FF2B5EF4-FFF2-40B4-BE49-F238E27FC236}">
                <a16:creationId xmlns:a16="http://schemas.microsoft.com/office/drawing/2014/main" id="{43A57054-1D13-4C84-B400-FB46929A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arm64 next</a:t>
            </a:r>
          </a:p>
        </p:txBody>
      </p:sp>
      <p:sp>
        <p:nvSpPr>
          <p:cNvPr id="19" name="Aurelia">
            <a:extLst xmlns:a="http://schemas.openxmlformats.org/drawingml/2006/main">
              <a:ext uri="{FF2B5EF4-FFF2-40B4-BE49-F238E27FC236}">
                <a16:creationId xmlns:a16="http://schemas.microsoft.com/office/drawing/2014/main" id="{97AA6514-EC50-48C1-B647-9619FD52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35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D7A45C"/>
            </a:solidFill>
            <a:prstDash val="solid"/>
          </a:ln>
        </p:spPr>
      </p:sp>
      <p:sp>
        <p:nvSpPr>
          <p:cNvPr id="2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A3F70C5-E7CF-462D-949B-41945D04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35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21" name="card-label">
            <a:extLst xmlns:a="http://schemas.openxmlformats.org/drawingml/2006/main">
              <a:ext uri="{FF2B5EF4-FFF2-40B4-BE49-F238E27FC236}">
                <a16:creationId xmlns:a16="http://schemas.microsoft.com/office/drawing/2014/main" id="{A70179AC-3065-490D-86B0-127F41E7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A45C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D7A45C"/>
                </a:solidFill>
                <a:latin typeface="Roboto Mono"/>
                <a:ea typeface="Roboto Mono"/>
                <a:cs typeface="Roboto Mono"/>
              </a:rPr>
              <a:t>AURELIA</a:t>
            </a:r>
          </a:p>
        </p:txBody>
      </p:sp>
      <p:sp>
        <p:nvSpPr>
          <p:cNvPr id="22" name="role">
            <a:extLst xmlns:a="http://schemas.openxmlformats.org/drawingml/2006/main">
              <a:ext uri="{FF2B5EF4-FFF2-40B4-BE49-F238E27FC236}">
                <a16:creationId xmlns:a16="http://schemas.microsoft.com/office/drawing/2014/main" id="{8274BFA7-AE7F-447D-9B09-3289A6C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Elegant creator edition</a:t>
            </a:r>
          </a:p>
        </p:txBody>
      </p:sp>
      <p:sp>
        <p:nvSpPr>
          <p:cNvPr id="23" name="detail">
            <a:extLst xmlns:a="http://schemas.openxmlformats.org/drawingml/2006/main">
              <a:ext uri="{FF2B5EF4-FFF2-40B4-BE49-F238E27FC236}">
                <a16:creationId xmlns:a16="http://schemas.microsoft.com/office/drawing/2014/main" id="{E2354129-0EC8-4F71-B554-6FCDAE6A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Cinematic and restrained. Still waiting on kernel reachability in VM.</a:t>
            </a:r>
          </a:p>
        </p:txBody>
      </p:sp>
      <p:sp>
        <p:nvSpPr>
          <p:cNvPr id="24" name="pill">
            <a:extLst xmlns:a="http://schemas.openxmlformats.org/drawingml/2006/main">
              <a:ext uri="{FF2B5EF4-FFF2-40B4-BE49-F238E27FC236}">
                <a16:creationId xmlns:a16="http://schemas.microsoft.com/office/drawing/2014/main" id="{5C60F0AE-3EDC-4F86-93E7-80B8D923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9525">
            <a:solidFill>
              <a:srgbClr val="D7A45C"/>
            </a:solidFill>
            <a:prstDash val="solid"/>
          </a:ln>
        </p:spPr>
      </p:sp>
      <p:sp>
        <p:nvSpPr>
          <p:cNvPr id="25" name="pill-text">
            <a:extLst xmlns:a="http://schemas.openxmlformats.org/drawingml/2006/main">
              <a:ext uri="{FF2B5EF4-FFF2-40B4-BE49-F238E27FC236}">
                <a16:creationId xmlns:a16="http://schemas.microsoft.com/office/drawing/2014/main" id="{9836EA70-AE94-4794-BC20-AB808077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bootloader only</a:t>
            </a:r>
          </a:p>
        </p:txBody>
      </p:sp>
      <p:sp>
        <p:nvSpPr>
          <p:cNvPr id="26" name="ARCWYRE">
            <a:extLst xmlns:a="http://schemas.openxmlformats.org/drawingml/2006/main">
              <a:ext uri="{FF2B5EF4-FFF2-40B4-BE49-F238E27FC236}">
                <a16:creationId xmlns:a16="http://schemas.microsoft.com/office/drawing/2014/main" id="{B352298A-4B05-4224-B5CC-5F4D6C43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695700"/>
            <a:ext cx="335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9D5E8"/>
            </a:solidFill>
            <a:prstDash val="solid"/>
          </a:ln>
        </p:spPr>
      </p:sp>
      <p:sp>
        <p:nvSpPr>
          <p:cNvPr id="2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5C25A24-16D1-4139-A031-600479E8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695700"/>
            <a:ext cx="335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E8"/>
          </a:solidFill>
          <a:ln xmlns:a="http://schemas.openxmlformats.org/drawingml/2006/main" w="0">
            <a:solidFill>
              <a:srgbClr val="39D5E8"/>
            </a:solidFill>
            <a:prstDash val="solid"/>
          </a:ln>
        </p:spPr>
      </p:sp>
      <p:sp>
        <p:nvSpPr>
          <p:cNvPr id="28" name="card-label">
            <a:extLst xmlns:a="http://schemas.openxmlformats.org/drawingml/2006/main">
              <a:ext uri="{FF2B5EF4-FFF2-40B4-BE49-F238E27FC236}">
                <a16:creationId xmlns:a16="http://schemas.microsoft.com/office/drawing/2014/main" id="{948FC996-7123-4A99-89E1-E990B191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290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D5E8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39D5E8"/>
                </a:solidFill>
                <a:latin typeface="Roboto Mono"/>
                <a:ea typeface="Roboto Mono"/>
                <a:cs typeface="Roboto Mono"/>
              </a:rPr>
              <a:t>ARCWYRE</a:t>
            </a:r>
          </a:p>
        </p:txBody>
      </p:sp>
      <p:sp>
        <p:nvSpPr>
          <p:cNvPr id="29" name="role">
            <a:extLst xmlns:a="http://schemas.openxmlformats.org/drawingml/2006/main">
              <a:ext uri="{FF2B5EF4-FFF2-40B4-BE49-F238E27FC236}">
                <a16:creationId xmlns:a16="http://schemas.microsoft.com/office/drawing/2014/main" id="{E77AD709-BD8B-4CB5-AE7C-87C45558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2481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Recovery + technician environment</a:t>
            </a:r>
          </a:p>
        </p:txBody>
      </p:sp>
      <p:sp>
        <p:nvSpPr>
          <p:cNvPr id="30" name="detail">
            <a:extLst xmlns:a="http://schemas.openxmlformats.org/drawingml/2006/main">
              <a:ext uri="{FF2B5EF4-FFF2-40B4-BE49-F238E27FC236}">
                <a16:creationId xmlns:a16="http://schemas.microsoft.com/office/drawing/2014/main" id="{246307C9-6057-4EEF-BD45-6C35D074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7200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Operational tooling and recovery workflows, not a generic desktop clone.</a:t>
            </a:r>
          </a:p>
        </p:txBody>
      </p:sp>
      <p:sp>
        <p:nvSpPr>
          <p:cNvPr id="31" name="pill">
            <a:extLst xmlns:a="http://schemas.openxmlformats.org/drawingml/2006/main">
              <a:ext uri="{FF2B5EF4-FFF2-40B4-BE49-F238E27FC236}">
                <a16:creationId xmlns:a16="http://schemas.microsoft.com/office/drawing/2014/main" id="{FF6B84D8-FAF5-4D74-A116-C7A192F7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95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E8"/>
          </a:solidFill>
          <a:ln xmlns:a="http://schemas.openxmlformats.org/drawingml/2006/main" w="9525">
            <a:solidFill>
              <a:srgbClr val="39D5E8"/>
            </a:solidFill>
            <a:prstDash val="solid"/>
          </a:ln>
        </p:spPr>
      </p:sp>
      <p:sp>
        <p:nvSpPr>
          <p:cNvPr id="32" name="pill-text">
            <a:extLst xmlns:a="http://schemas.openxmlformats.org/drawingml/2006/main">
              <a:ext uri="{FF2B5EF4-FFF2-40B4-BE49-F238E27FC236}">
                <a16:creationId xmlns:a16="http://schemas.microsoft.com/office/drawing/2014/main" id="{DD272B4C-8939-42C3-A2CA-FDEB35EC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933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bootloader only</a:t>
            </a:r>
          </a:p>
        </p:txBody>
      </p:sp>
      <p:sp>
        <p:nvSpPr>
          <p:cNvPr id="33" name="Native">
            <a:extLst xmlns:a="http://schemas.openxmlformats.org/drawingml/2006/main">
              <a:ext uri="{FF2B5EF4-FFF2-40B4-BE49-F238E27FC236}">
                <a16:creationId xmlns:a16="http://schemas.microsoft.com/office/drawing/2014/main" id="{5D341DB6-2D29-4F1A-8DFB-2155B86C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95700"/>
            <a:ext cx="335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3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FB775C9-4E97-4C64-A871-AC06121B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95700"/>
            <a:ext cx="3352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85"/>
          </a:solidFill>
          <a:ln xmlns:a="http://schemas.openxmlformats.org/drawingml/2006/main" w="0">
            <a:solidFill>
              <a:srgbClr val="627185"/>
            </a:solidFill>
            <a:prstDash val="solid"/>
          </a:ln>
        </p:spPr>
      </p:sp>
      <p:sp>
        <p:nvSpPr>
          <p:cNvPr id="35" name="card-label">
            <a:extLst xmlns:a="http://schemas.openxmlformats.org/drawingml/2006/main">
              <a:ext uri="{FF2B5EF4-FFF2-40B4-BE49-F238E27FC236}">
                <a16:creationId xmlns:a16="http://schemas.microsoft.com/office/drawing/2014/main" id="{FF9D34EF-86BC-46E4-88C8-0DE15468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185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627185"/>
                </a:solidFill>
                <a:latin typeface="Roboto Mono"/>
                <a:ea typeface="Roboto Mono"/>
                <a:cs typeface="Roboto Mono"/>
              </a:rPr>
              <a:t>NATIVE</a:t>
            </a:r>
          </a:p>
        </p:txBody>
      </p:sp>
      <p:sp>
        <p:nvSpPr>
          <p:cNvPr id="36" name="role">
            <a:extLst xmlns:a="http://schemas.openxmlformats.org/drawingml/2006/main">
              <a:ext uri="{FF2B5EF4-FFF2-40B4-BE49-F238E27FC236}">
                <a16:creationId xmlns:a16="http://schemas.microsoft.com/office/drawing/2014/main" id="{B02AE8AC-54DD-4269-9BD1-C41E6425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481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Research-only sovereign track</a:t>
            </a:r>
          </a:p>
        </p:txBody>
      </p:sp>
      <p:sp>
        <p:nvSpPr>
          <p:cNvPr id="37" name="detail">
            <a:extLst xmlns:a="http://schemas.openxmlformats.org/drawingml/2006/main">
              <a:ext uri="{FF2B5EF4-FFF2-40B4-BE49-F238E27FC236}">
                <a16:creationId xmlns:a16="http://schemas.microsoft.com/office/drawing/2014/main" id="{27380AF4-27DC-40E0-B705-12892FCB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72000"/>
            <a:ext cx="300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Long-term platform research. It stays labeled research-only until it proves otherwise.</a:t>
            </a:r>
          </a:p>
        </p:txBody>
      </p:sp>
      <p:sp>
        <p:nvSpPr>
          <p:cNvPr id="38" name="pill">
            <a:extLst xmlns:a="http://schemas.openxmlformats.org/drawingml/2006/main">
              <a:ext uri="{FF2B5EF4-FFF2-40B4-BE49-F238E27FC236}">
                <a16:creationId xmlns:a16="http://schemas.microsoft.com/office/drawing/2014/main" id="{8ED69476-0D38-440F-B563-87150AA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958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39" name="pill-text">
            <a:extLst xmlns:a="http://schemas.openxmlformats.org/drawingml/2006/main">
              <a:ext uri="{FF2B5EF4-FFF2-40B4-BE49-F238E27FC236}">
                <a16:creationId xmlns:a16="http://schemas.microsoft.com/office/drawing/2014/main" id="{60A398F8-7943-43B1-AD21-65C249C5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933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DA9B7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9DA9B7"/>
                </a:solidFill>
                <a:latin typeface="Roboto Mono"/>
                <a:ea typeface="Roboto Mono"/>
                <a:cs typeface="Roboto Mono"/>
              </a:rPr>
              <a:t>not shipping</a:t>
            </a:r>
          </a:p>
        </p:txBody>
      </p:sp>
      <p:sp>
        <p:nvSpPr>
          <p:cNvPr id="40" name="footer-card">
            <a:extLst xmlns:a="http://schemas.openxmlformats.org/drawingml/2006/main">
              <a:ext uri="{FF2B5EF4-FFF2-40B4-BE49-F238E27FC236}">
                <a16:creationId xmlns:a16="http://schemas.microsoft.com/office/drawing/2014/main" id="{3F85F7D8-DD5F-4588-8365-6F8EF19E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782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41" name="archive-note">
            <a:extLst xmlns:a="http://schemas.openxmlformats.org/drawingml/2006/main">
              <a:ext uri="{FF2B5EF4-FFF2-40B4-BE49-F238E27FC236}">
                <a16:creationId xmlns:a16="http://schemas.microsoft.com/office/drawing/2014/main" id="{7DAC2631-29B6-43FF-906D-83B916FD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483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20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Retired concepts — Forge, Revival, Resilient — remain archived only and must never reappear in active build, registry, matrix, or release outputs.</a:t>
            </a:r>
          </a:p>
        </p:txBody>
      </p:sp>
    </p:spTree>
    <p:extLst>
      <p:ext uri="{BB962C8B-B14F-4D97-AF65-F5344CB8AC3E}">
        <p14:creationId xmlns:p14="http://schemas.microsoft.com/office/powerpoint/2010/main" val="16816064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3BB962C-047C-421D-ADAE-199B4FC4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solidFill>
              <a:srgbClr val="071321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8B0B59B-EE41-4420-A709-AC329F34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A4FF"/>
                </a:solidFill>
                <a:latin typeface="Roboto Mono"/>
                <a:ea typeface="Roboto Mono"/>
                <a:cs typeface="Roboto Mono"/>
              </a:defRPr>
            </a:pPr>
            <a:r>
              <a:rPr sz="975" b="1">
                <a:solidFill>
                  <a:srgbClr val="63A4FF"/>
                </a:solidFill>
                <a:latin typeface="Roboto Mono"/>
                <a:ea typeface="Roboto Mono"/>
                <a:cs typeface="Roboto Mono"/>
              </a:rPr>
              <a:t>TELEMETRY / BUILD PIPELINE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A7A423-7CD3-4177-BEBC-834A6D22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00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Long builds are now measurable instead of mystical.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303818F-A9EB-4789-BCCC-74E4F7D7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The telemetry model records phase timings, heartbeats, warnings, and artifact emission so the build can explain itself.</a:t>
            </a:r>
          </a:p>
        </p:txBody>
      </p:sp>
      <p:sp>
        <p:nvSpPr>
          <p:cNvPr id="5" name="pipeline-card">
            <a:extLst xmlns:a="http://schemas.openxmlformats.org/drawingml/2006/main">
              <a:ext uri="{FF2B5EF4-FFF2-40B4-BE49-F238E27FC236}">
                <a16:creationId xmlns:a16="http://schemas.microsoft.com/office/drawing/2014/main" id="{D360026F-3FDA-4F6F-8B80-19A2F7D6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68199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27A4C78-1159-4D79-B906-5484AF6C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681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4FF"/>
          </a:solidFill>
          <a:ln xmlns:a="http://schemas.openxmlformats.org/drawingml/2006/main" w="0">
            <a:solidFill>
              <a:srgbClr val="63A4FF"/>
            </a:solidFill>
            <a:prstDash val="solid"/>
          </a:ln>
        </p:spPr>
      </p:sp>
      <p:sp>
        <p:nvSpPr>
          <p:cNvPr id="7" name="card-label">
            <a:extLst xmlns:a="http://schemas.openxmlformats.org/drawingml/2006/main">
              <a:ext uri="{FF2B5EF4-FFF2-40B4-BE49-F238E27FC236}">
                <a16:creationId xmlns:a16="http://schemas.microsoft.com/office/drawing/2014/main" id="{8904A34E-C124-468F-9D75-A015615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651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A4FF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63A4FF"/>
                </a:solidFill>
                <a:latin typeface="Roboto Mono"/>
                <a:ea typeface="Roboto Mono"/>
                <a:cs typeface="Roboto Mono"/>
              </a:rPr>
              <a:t>CANONICAL BUILD PHASES</a:t>
            </a:r>
          </a:p>
        </p:txBody>
      </p:sp>
      <p:sp>
        <p:nvSpPr>
          <p:cNvPr id="8" name="preflight-dot">
            <a:extLst xmlns:a="http://schemas.openxmlformats.org/drawingml/2006/main">
              <a:ext uri="{FF2B5EF4-FFF2-40B4-BE49-F238E27FC236}">
                <a16:creationId xmlns:a16="http://schemas.microsoft.com/office/drawing/2014/main" id="{A13FE039-695F-41FF-90C7-95CA8636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4FF"/>
          </a:solidFill>
          <a:ln xmlns:a="http://schemas.openxmlformats.org/drawingml/2006/main" w="0">
            <a:solidFill>
              <a:srgbClr val="63A4FF"/>
            </a:solidFill>
            <a:prstDash val="solid"/>
          </a:ln>
        </p:spPr>
      </p:sp>
      <p:sp>
        <p:nvSpPr>
          <p:cNvPr id="9" name="preflight-label">
            <a:extLst xmlns:a="http://schemas.openxmlformats.org/drawingml/2006/main">
              <a:ext uri="{FF2B5EF4-FFF2-40B4-BE49-F238E27FC236}">
                <a16:creationId xmlns:a16="http://schemas.microsoft.com/office/drawing/2014/main" id="{71CE1F78-6C0B-43AC-8D71-2B84EE70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preflight</a:t>
            </a:r>
          </a:p>
        </p:txBody>
      </p:sp>
      <p:sp>
        <p:nvSpPr>
          <p:cNvPr id="10" name="manifest-dot">
            <a:extLst xmlns:a="http://schemas.openxmlformats.org/drawingml/2006/main">
              <a:ext uri="{FF2B5EF4-FFF2-40B4-BE49-F238E27FC236}">
                <a16:creationId xmlns:a16="http://schemas.microsoft.com/office/drawing/2014/main" id="{62A7175A-2270-40B4-8B98-A3CF7B84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E8"/>
          </a:solidFill>
          <a:ln xmlns:a="http://schemas.openxmlformats.org/drawingml/2006/main" w="0">
            <a:solidFill>
              <a:srgbClr val="39D5E8"/>
            </a:solidFill>
            <a:prstDash val="solid"/>
          </a:ln>
        </p:spPr>
      </p:sp>
      <p:sp>
        <p:nvSpPr>
          <p:cNvPr id="11" name="manifest-label">
            <a:extLst xmlns:a="http://schemas.openxmlformats.org/drawingml/2006/main">
              <a:ext uri="{FF2B5EF4-FFF2-40B4-BE49-F238E27FC236}">
                <a16:creationId xmlns:a16="http://schemas.microsoft.com/office/drawing/2014/main" id="{F89CF8B8-FD53-4565-99FC-B639C46F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050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manifest</a:t>
            </a:r>
          </a:p>
        </p:txBody>
      </p:sp>
      <p:sp>
        <p:nvSpPr>
          <p:cNvPr id="12" name="overlay-dot">
            <a:extLst xmlns:a="http://schemas.openxmlformats.org/drawingml/2006/main">
              <a:ext uri="{FF2B5EF4-FFF2-40B4-BE49-F238E27FC236}">
                <a16:creationId xmlns:a16="http://schemas.microsoft.com/office/drawing/2014/main" id="{2C497922-92A7-426B-84CC-A53BA5CD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13" name="overlay-label">
            <a:extLst xmlns:a="http://schemas.openxmlformats.org/drawingml/2006/main">
              <a:ext uri="{FF2B5EF4-FFF2-40B4-BE49-F238E27FC236}">
                <a16:creationId xmlns:a16="http://schemas.microsoft.com/office/drawing/2014/main" id="{B2B209F7-D1F5-4581-AEE0-1FFE8F63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overlay</a:t>
            </a:r>
          </a:p>
        </p:txBody>
      </p:sp>
      <p:sp>
        <p:nvSpPr>
          <p:cNvPr id="14" name="package-dot">
            <a:extLst xmlns:a="http://schemas.openxmlformats.org/drawingml/2006/main">
              <a:ext uri="{FF2B5EF4-FFF2-40B4-BE49-F238E27FC236}">
                <a16:creationId xmlns:a16="http://schemas.microsoft.com/office/drawing/2014/main" id="{4315089C-D7AD-4F1C-AC4B-8281D2C6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73FF"/>
          </a:solidFill>
          <a:ln xmlns:a="http://schemas.openxmlformats.org/drawingml/2006/main" w="0">
            <a:solidFill>
              <a:srgbClr val="8A73FF"/>
            </a:solidFill>
            <a:prstDash val="solid"/>
          </a:ln>
        </p:spPr>
      </p:sp>
      <p:sp>
        <p:nvSpPr>
          <p:cNvPr id="15" name="package-label">
            <a:extLst xmlns:a="http://schemas.openxmlformats.org/drawingml/2006/main">
              <a:ext uri="{FF2B5EF4-FFF2-40B4-BE49-F238E27FC236}">
                <a16:creationId xmlns:a16="http://schemas.microsoft.com/office/drawing/2014/main" id="{9AA57901-FD02-4ABE-A7EC-B279A6F0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050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package</a:t>
            </a:r>
          </a:p>
        </p:txBody>
      </p:sp>
      <p:sp>
        <p:nvSpPr>
          <p:cNvPr id="16" name="debootstrap-dot">
            <a:extLst xmlns:a="http://schemas.openxmlformats.org/drawingml/2006/main">
              <a:ext uri="{FF2B5EF4-FFF2-40B4-BE49-F238E27FC236}">
                <a16:creationId xmlns:a16="http://schemas.microsoft.com/office/drawing/2014/main" id="{E40A82FF-1EA0-478C-ACDC-B5BC5062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A4FF"/>
          </a:solidFill>
          <a:ln xmlns:a="http://schemas.openxmlformats.org/drawingml/2006/main" w="0">
            <a:solidFill>
              <a:srgbClr val="63A4FF"/>
            </a:solidFill>
            <a:prstDash val="solid"/>
          </a:ln>
        </p:spPr>
      </p:sp>
      <p:sp>
        <p:nvSpPr>
          <p:cNvPr id="17" name="debootstrap-label">
            <a:extLst xmlns:a="http://schemas.openxmlformats.org/drawingml/2006/main">
              <a:ext uri="{FF2B5EF4-FFF2-40B4-BE49-F238E27FC236}">
                <a16:creationId xmlns:a16="http://schemas.microsoft.com/office/drawing/2014/main" id="{B97152A5-E5F7-421A-B96C-708E3303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050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debootstrap</a:t>
            </a:r>
          </a:p>
        </p:txBody>
      </p:sp>
      <p:sp>
        <p:nvSpPr>
          <p:cNvPr id="18" name="chroot-dot">
            <a:extLst xmlns:a="http://schemas.openxmlformats.org/drawingml/2006/main">
              <a:ext uri="{FF2B5EF4-FFF2-40B4-BE49-F238E27FC236}">
                <a16:creationId xmlns:a16="http://schemas.microsoft.com/office/drawing/2014/main" id="{6EA0C320-1FDB-4168-8E0F-2CCAAD43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E8"/>
          </a:solidFill>
          <a:ln xmlns:a="http://schemas.openxmlformats.org/drawingml/2006/main" w="0">
            <a:solidFill>
              <a:srgbClr val="39D5E8"/>
            </a:solidFill>
            <a:prstDash val="solid"/>
          </a:ln>
        </p:spPr>
      </p:sp>
      <p:sp>
        <p:nvSpPr>
          <p:cNvPr id="19" name="chroot-label">
            <a:extLst xmlns:a="http://schemas.openxmlformats.org/drawingml/2006/main">
              <a:ext uri="{FF2B5EF4-FFF2-40B4-BE49-F238E27FC236}">
                <a16:creationId xmlns:a16="http://schemas.microsoft.com/office/drawing/2014/main" id="{F47CC818-5BDB-4938-934F-DFC5DDE3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chroot</a:t>
            </a:r>
          </a:p>
        </p:txBody>
      </p:sp>
      <p:sp>
        <p:nvSpPr>
          <p:cNvPr id="20" name="initramfs-dot">
            <a:extLst xmlns:a="http://schemas.openxmlformats.org/drawingml/2006/main">
              <a:ext uri="{FF2B5EF4-FFF2-40B4-BE49-F238E27FC236}">
                <a16:creationId xmlns:a16="http://schemas.microsoft.com/office/drawing/2014/main" id="{1D0B37DE-9090-4AE0-96F5-DE2E0897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95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21" name="initramfs-label">
            <a:extLst xmlns:a="http://schemas.openxmlformats.org/drawingml/2006/main">
              <a:ext uri="{FF2B5EF4-FFF2-40B4-BE49-F238E27FC236}">
                <a16:creationId xmlns:a16="http://schemas.microsoft.com/office/drawing/2014/main" id="{9A19E424-3048-4F8D-8EBD-146613DC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765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initramfs</a:t>
            </a:r>
          </a:p>
        </p:txBody>
      </p:sp>
      <p:sp>
        <p:nvSpPr>
          <p:cNvPr id="22" name="filesystem-dot">
            <a:extLst xmlns:a="http://schemas.openxmlformats.org/drawingml/2006/main">
              <a:ext uri="{FF2B5EF4-FFF2-40B4-BE49-F238E27FC236}">
                <a16:creationId xmlns:a16="http://schemas.microsoft.com/office/drawing/2014/main" id="{71005B66-A972-4B12-92DF-65B8FA3E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95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73FF"/>
          </a:solidFill>
          <a:ln xmlns:a="http://schemas.openxmlformats.org/drawingml/2006/main" w="0">
            <a:solidFill>
              <a:srgbClr val="8A73FF"/>
            </a:solidFill>
            <a:prstDash val="solid"/>
          </a:ln>
        </p:spPr>
      </p:sp>
      <p:sp>
        <p:nvSpPr>
          <p:cNvPr id="23" name="filesystem-label">
            <a:extLst xmlns:a="http://schemas.openxmlformats.org/drawingml/2006/main">
              <a:ext uri="{FF2B5EF4-FFF2-40B4-BE49-F238E27FC236}">
                <a16:creationId xmlns:a16="http://schemas.microsoft.com/office/drawing/2014/main" id="{6DE8112A-04A7-4646-A485-7F38EE3C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filesystem</a:t>
            </a:r>
          </a:p>
        </p:txBody>
      </p:sp>
      <p:sp>
        <p:nvSpPr>
          <p:cNvPr id="24" name="artifact-dot">
            <a:extLst xmlns:a="http://schemas.openxmlformats.org/drawingml/2006/main">
              <a:ext uri="{FF2B5EF4-FFF2-40B4-BE49-F238E27FC236}">
                <a16:creationId xmlns:a16="http://schemas.microsoft.com/office/drawing/2014/main" id="{92EDE533-84C8-4F14-904C-8985B725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58E"/>
          </a:solidFill>
          <a:ln xmlns:a="http://schemas.openxmlformats.org/drawingml/2006/main" w="0">
            <a:solidFill>
              <a:srgbClr val="48C58E"/>
            </a:solidFill>
            <a:prstDash val="solid"/>
          </a:ln>
        </p:spPr>
      </p:sp>
      <p:sp>
        <p:nvSpPr>
          <p:cNvPr id="25" name="artifact-label">
            <a:extLst xmlns:a="http://schemas.openxmlformats.org/drawingml/2006/main">
              <a:ext uri="{FF2B5EF4-FFF2-40B4-BE49-F238E27FC236}">
                <a16:creationId xmlns:a16="http://schemas.microsoft.com/office/drawing/2014/main" id="{8106470E-5F95-463B-91CE-F6FDD18F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765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artifact</a:t>
            </a:r>
          </a:p>
        </p:txBody>
      </p:sp>
      <p:sp>
        <p:nvSpPr>
          <p:cNvPr id="26" name="cleanup-dot">
            <a:extLst xmlns:a="http://schemas.openxmlformats.org/drawingml/2006/main">
              <a:ext uri="{FF2B5EF4-FFF2-40B4-BE49-F238E27FC236}">
                <a16:creationId xmlns:a16="http://schemas.microsoft.com/office/drawing/2014/main" id="{A6D40823-44E7-4600-A53C-D1A4947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F7A"/>
          </a:solidFill>
          <a:ln xmlns:a="http://schemas.openxmlformats.org/drawingml/2006/main" w="0">
            <a:solidFill>
              <a:srgbClr val="E26F7A"/>
            </a:solidFill>
            <a:prstDash val="solid"/>
          </a:ln>
        </p:spPr>
      </p:sp>
      <p:sp>
        <p:nvSpPr>
          <p:cNvPr id="27" name="cleanup-label">
            <a:extLst xmlns:a="http://schemas.openxmlformats.org/drawingml/2006/main">
              <a:ext uri="{FF2B5EF4-FFF2-40B4-BE49-F238E27FC236}">
                <a16:creationId xmlns:a16="http://schemas.microsoft.com/office/drawing/2014/main" id="{F177C78A-A729-4FC9-BD42-A9A357B6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76550"/>
            <a:ext cx="110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cleanup</a:t>
            </a:r>
          </a:p>
        </p:txBody>
      </p:sp>
      <p:sp>
        <p:nvSpPr>
          <p:cNvPr id="28" name="rule-top">
            <a:extLst xmlns:a="http://schemas.openxmlformats.org/drawingml/2006/main">
              <a:ext uri="{FF2B5EF4-FFF2-40B4-BE49-F238E27FC236}">
                <a16:creationId xmlns:a16="http://schemas.microsoft.com/office/drawing/2014/main" id="{62B3AFB1-4E0D-46EA-BB03-5F67406B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74F"/>
          </a:solidFill>
          <a:ln xmlns:a="http://schemas.openxmlformats.org/drawingml/2006/main" w="0">
            <a:solidFill>
              <a:srgbClr val="21374F"/>
            </a:solidFill>
            <a:prstDash val="solid"/>
          </a:ln>
        </p:spPr>
      </p:sp>
      <p:sp>
        <p:nvSpPr>
          <p:cNvPr id="29" name="rule-bottom">
            <a:extLst xmlns:a="http://schemas.openxmlformats.org/drawingml/2006/main">
              <a:ext uri="{FF2B5EF4-FFF2-40B4-BE49-F238E27FC236}">
                <a16:creationId xmlns:a16="http://schemas.microsoft.com/office/drawing/2014/main" id="{48D3D1DA-FFE7-4001-AF12-DE8BEBD3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74F"/>
          </a:solidFill>
          <a:ln xmlns:a="http://schemas.openxmlformats.org/drawingml/2006/main" w="0">
            <a:solidFill>
              <a:srgbClr val="21374F"/>
            </a:solidFill>
            <a:prstDash val="solid"/>
          </a:ln>
        </p:spPr>
      </p:sp>
      <p:sp>
        <p:nvSpPr>
          <p:cNvPr id="30" name="pill">
            <a:extLst xmlns:a="http://schemas.openxmlformats.org/drawingml/2006/main">
              <a:ext uri="{FF2B5EF4-FFF2-40B4-BE49-F238E27FC236}">
                <a16:creationId xmlns:a16="http://schemas.microsoft.com/office/drawing/2014/main" id="{2E5C6362-E025-4836-8AC2-F28DA597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31" name="pill-text">
            <a:extLst xmlns:a="http://schemas.openxmlformats.org/drawingml/2006/main">
              <a:ext uri="{FF2B5EF4-FFF2-40B4-BE49-F238E27FC236}">
                <a16:creationId xmlns:a16="http://schemas.microsoft.com/office/drawing/2014/main" id="{9B4D8559-B5D3-4888-A9D7-B2216F11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build aware</a:t>
            </a:r>
          </a:p>
        </p:txBody>
      </p:sp>
      <p:sp>
        <p:nvSpPr>
          <p:cNvPr id="32" name="pill">
            <a:extLst xmlns:a="http://schemas.openxmlformats.org/drawingml/2006/main">
              <a:ext uri="{FF2B5EF4-FFF2-40B4-BE49-F238E27FC236}">
                <a16:creationId xmlns:a16="http://schemas.microsoft.com/office/drawing/2014/main" id="{A0D66E36-76E8-43B1-A6DF-7754C210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433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33" name="pill-text">
            <a:extLst xmlns:a="http://schemas.openxmlformats.org/drawingml/2006/main">
              <a:ext uri="{FF2B5EF4-FFF2-40B4-BE49-F238E27FC236}">
                <a16:creationId xmlns:a16="http://schemas.microsoft.com/office/drawing/2014/main" id="{7388E223-8955-4DAC-BE71-EF77B7E8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814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heartbeat visible</a:t>
            </a:r>
          </a:p>
        </p:txBody>
      </p:sp>
      <p:sp>
        <p:nvSpPr>
          <p:cNvPr id="34" name="pill">
            <a:extLst xmlns:a="http://schemas.openxmlformats.org/drawingml/2006/main">
              <a:ext uri="{FF2B5EF4-FFF2-40B4-BE49-F238E27FC236}">
                <a16:creationId xmlns:a16="http://schemas.microsoft.com/office/drawing/2014/main" id="{AC38EB20-992D-489D-8270-4F9422C4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433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35" name="pill-text">
            <a:extLst xmlns:a="http://schemas.openxmlformats.org/drawingml/2006/main">
              <a:ext uri="{FF2B5EF4-FFF2-40B4-BE49-F238E27FC236}">
                <a16:creationId xmlns:a16="http://schemas.microsoft.com/office/drawing/2014/main" id="{77A2E25B-FCF2-443F-847F-75649364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814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artifact registered</a:t>
            </a:r>
          </a:p>
        </p:txBody>
      </p:sp>
      <p:sp>
        <p:nvSpPr>
          <p:cNvPr id="36" name="pill">
            <a:extLst xmlns:a="http://schemas.openxmlformats.org/drawingml/2006/main">
              <a:ext uri="{FF2B5EF4-FFF2-40B4-BE49-F238E27FC236}">
                <a16:creationId xmlns:a16="http://schemas.microsoft.com/office/drawing/2014/main" id="{FAF53C3D-1B77-490B-ACF3-AA74C688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433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37" name="pill-text">
            <a:extLst xmlns:a="http://schemas.openxmlformats.org/drawingml/2006/main">
              <a:ext uri="{FF2B5EF4-FFF2-40B4-BE49-F238E27FC236}">
                <a16:creationId xmlns:a16="http://schemas.microsoft.com/office/drawing/2014/main" id="{4A834F33-5863-4C9F-9591-9D615078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failures classified</a:t>
            </a:r>
          </a:p>
        </p:txBody>
      </p:sp>
      <p:sp>
        <p:nvSpPr>
          <p:cNvPr id="38" name="telemetry-copy">
            <a:extLst xmlns:a="http://schemas.openxmlformats.org/drawingml/2006/main">
              <a:ext uri="{FF2B5EF4-FFF2-40B4-BE49-F238E27FC236}">
                <a16:creationId xmlns:a16="http://schemas.microsoft.com/office/drawing/2014/main" id="{2EB037D8-FB91-4BB6-A15A-5EDCBA90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590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F4F7FB"/>
                </a:solidFill>
                <a:latin typeface="Roboto"/>
                <a:ea typeface="Roboto"/>
                <a:cs typeface="Roboto"/>
              </a:rPr>
              <a:t>No fake ETA. No fake percentages. The watcher only reports the current phase, elapsed time, last successful phase, heartbeat count, and the latest real warning or failure class.</a:t>
            </a:r>
          </a:p>
        </p:txBody>
      </p:sp>
      <p:sp>
        <p:nvSpPr>
          <p:cNvPr id="39" name="summary-card">
            <a:extLst xmlns:a="http://schemas.openxmlformats.org/drawingml/2006/main">
              <a:ext uri="{FF2B5EF4-FFF2-40B4-BE49-F238E27FC236}">
                <a16:creationId xmlns:a16="http://schemas.microsoft.com/office/drawing/2014/main" id="{EE711195-27B4-413A-8954-F9D65410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90700"/>
            <a:ext cx="369570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4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F106EB4-8DD5-4697-AC5B-713CBACE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90700"/>
            <a:ext cx="3695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41" name="card-label">
            <a:extLst xmlns:a="http://schemas.openxmlformats.org/drawingml/2006/main">
              <a:ext uri="{FF2B5EF4-FFF2-40B4-BE49-F238E27FC236}">
                <a16:creationId xmlns:a16="http://schemas.microsoft.com/office/drawing/2014/main" id="{4228A6AB-0F68-4D12-AF5E-CC6DCEA9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339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A45C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D7A45C"/>
                </a:solidFill>
                <a:latin typeface="Roboto Mono"/>
                <a:ea typeface="Roboto Mono"/>
                <a:cs typeface="Roboto Mono"/>
              </a:rPr>
              <a:t>HOME BUILD SUMMARY</a:t>
            </a:r>
          </a:p>
        </p:txBody>
      </p:sp>
      <p:sp>
        <p:nvSpPr>
          <p:cNvPr id="42" name="elapsed">
            <a:extLst xmlns:a="http://schemas.openxmlformats.org/drawingml/2006/main">
              <a:ext uri="{FF2B5EF4-FFF2-40B4-BE49-F238E27FC236}">
                <a16:creationId xmlns:a16="http://schemas.microsoft.com/office/drawing/2014/main" id="{1FE80800-1AA5-4806-9C94-27D211C3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Elapsed: 3,243 s</a:t>
            </a:r>
          </a:p>
        </p:txBody>
      </p:sp>
      <p:sp>
        <p:nvSpPr>
          <p:cNvPr id="43" name="warnings">
            <a:extLst xmlns:a="http://schemas.openxmlformats.org/drawingml/2006/main">
              <a:ext uri="{FF2B5EF4-FFF2-40B4-BE49-F238E27FC236}">
                <a16:creationId xmlns:a16="http://schemas.microsoft.com/office/drawing/2014/main" id="{2FECCD85-6136-438E-916F-FB779EF8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Warnings: 202</a:t>
            </a:r>
          </a:p>
        </p:txBody>
      </p:sp>
      <p:sp>
        <p:nvSpPr>
          <p:cNvPr id="44" name="last-phase">
            <a:extLst xmlns:a="http://schemas.openxmlformats.org/drawingml/2006/main">
              <a:ext uri="{FF2B5EF4-FFF2-40B4-BE49-F238E27FC236}">
                <a16:creationId xmlns:a16="http://schemas.microsoft.com/office/drawing/2014/main" id="{5FB611D2-F7E7-4C66-A97A-A52537BD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F4F7FB"/>
                </a:solidFill>
                <a:latin typeface="Roboto"/>
                <a:ea typeface="Roboto"/>
                <a:cs typeface="Roboto"/>
              </a:rPr>
              <a:t>Last successful phase: cleanup</a:t>
            </a:r>
          </a:p>
        </p:txBody>
      </p:sp>
      <p:sp>
        <p:nvSpPr>
          <p:cNvPr id="45" name="build-status">
            <a:extLst xmlns:a="http://schemas.openxmlformats.org/drawingml/2006/main">
              <a:ext uri="{FF2B5EF4-FFF2-40B4-BE49-F238E27FC236}">
                <a16:creationId xmlns:a16="http://schemas.microsoft.com/office/drawing/2014/main" id="{DB7E1067-5F41-4242-A708-145F9CB9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A9B7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9DA9B7"/>
                </a:solidFill>
                <a:latin typeface="Roboto Mono"/>
                <a:ea typeface="Roboto Mono"/>
                <a:cs typeface="Roboto Mono"/>
              </a:rPr>
              <a:t>Telemetry status: recorded</a:t>
            </a:r>
          </a:p>
          <a:p xmlns:a="http://schemas.openxmlformats.org/drawingml/2006/main">
            <a:pPr algn="l">
              <a:defRPr sz="1200" b="0">
                <a:solidFill>
                  <a:srgbClr val="9DA9B7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9DA9B7"/>
                </a:solidFill>
                <a:latin typeface="Roboto Mono"/>
                <a:ea typeface="Roboto Mono"/>
                <a:cs typeface="Roboto Mono"/>
              </a:rPr>
              <a:t>Build status: completed</a:t>
            </a:r>
          </a:p>
        </p:txBody>
      </p:sp>
      <p:sp>
        <p:nvSpPr>
          <p:cNvPr id="46" name="pill">
            <a:extLst xmlns:a="http://schemas.openxmlformats.org/drawingml/2006/main">
              <a:ext uri="{FF2B5EF4-FFF2-40B4-BE49-F238E27FC236}">
                <a16:creationId xmlns:a16="http://schemas.microsoft.com/office/drawing/2014/main" id="{2A04E760-6E14-4309-82D4-665A312A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005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F7A"/>
          </a:solidFill>
          <a:ln xmlns:a="http://schemas.openxmlformats.org/drawingml/2006/main" w="9525">
            <a:solidFill>
              <a:srgbClr val="E26F7A"/>
            </a:solidFill>
            <a:prstDash val="solid"/>
          </a:ln>
        </p:spPr>
      </p:sp>
      <p:sp>
        <p:nvSpPr>
          <p:cNvPr id="47" name="pill-text">
            <a:extLst xmlns:a="http://schemas.openxmlformats.org/drawingml/2006/main">
              <a:ext uri="{FF2B5EF4-FFF2-40B4-BE49-F238E27FC236}">
                <a16:creationId xmlns:a16="http://schemas.microsoft.com/office/drawing/2014/main" id="{1D00535E-289B-486D-AF48-1EB27031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release_blocked</a:t>
            </a:r>
          </a:p>
        </p:txBody>
      </p:sp>
      <p:sp>
        <p:nvSpPr>
          <p:cNvPr id="48" name="pill">
            <a:extLst xmlns:a="http://schemas.openxmlformats.org/drawingml/2006/main">
              <a:ext uri="{FF2B5EF4-FFF2-40B4-BE49-F238E27FC236}">
                <a16:creationId xmlns:a16="http://schemas.microsoft.com/office/drawing/2014/main" id="{BBD9A100-3B1D-4739-B537-14D93DAC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0055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58E"/>
          </a:solidFill>
          <a:ln xmlns:a="http://schemas.openxmlformats.org/drawingml/2006/main" w="9525">
            <a:solidFill>
              <a:srgbClr val="48C58E"/>
            </a:solidFill>
            <a:prstDash val="solid"/>
          </a:ln>
        </p:spPr>
      </p:sp>
      <p:sp>
        <p:nvSpPr>
          <p:cNvPr id="49" name="pill-text">
            <a:extLst xmlns:a="http://schemas.openxmlformats.org/drawingml/2006/main">
              <a:ext uri="{FF2B5EF4-FFF2-40B4-BE49-F238E27FC236}">
                <a16:creationId xmlns:a16="http://schemas.microsoft.com/office/drawing/2014/main" id="{8F0D93F6-558C-4F51-A162-1D590B24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386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desktop confirmed</a:t>
            </a:r>
          </a:p>
        </p:txBody>
      </p:sp>
      <p:sp>
        <p:nvSpPr>
          <p:cNvPr id="50" name="latest-warning">
            <a:extLst xmlns:a="http://schemas.openxmlformats.org/drawingml/2006/main">
              <a:ext uri="{FF2B5EF4-FFF2-40B4-BE49-F238E27FC236}">
                <a16:creationId xmlns:a16="http://schemas.microsoft.com/office/drawing/2014/main" id="{1275ACA4-1498-4ADF-BF77-420E8C6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302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Latest warning: Debian non-free-firmware repository component warnings. No hard failure. Build completed with a valid artifact hash.</a:t>
            </a:r>
          </a:p>
        </p:txBody>
      </p:sp>
    </p:spTree>
    <p:extLst>
      <p:ext uri="{BB962C8B-B14F-4D97-AF65-F5344CB8AC3E}">
        <p14:creationId xmlns:p14="http://schemas.microsoft.com/office/powerpoint/2010/main" val="771211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AE4AB3B-A39B-4BA3-B2A3-DDB9D7EC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solidFill>
              <a:srgbClr val="071321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B0BC479-E0DD-4B85-8D70-61980A6B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A4FF"/>
                </a:solidFill>
                <a:latin typeface="Roboto Mono"/>
                <a:ea typeface="Roboto Mono"/>
                <a:cs typeface="Roboto Mono"/>
              </a:defRPr>
            </a:pPr>
            <a:r>
              <a:rPr sz="975" b="1">
                <a:solidFill>
                  <a:srgbClr val="63A4FF"/>
                </a:solidFill>
                <a:latin typeface="Roboto Mono"/>
                <a:ea typeface="Roboto Mono"/>
                <a:cs typeface="Roboto Mono"/>
              </a:rPr>
              <a:t>VM BOOT VALIDATION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500ADE-51AF-4763-9B4E-FBD2FFC5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Home reaches the desktop; the blocker is clean shutdown.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60397C1-9090-4B0E-B16A-9CD9611B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The desktop was visually confirmed in QEMU x86_64 UEFI. The other active editions still stop at bootloader-only states.</a:t>
            </a:r>
          </a:p>
        </p:txBody>
      </p:sp>
      <p:sp>
        <p:nvSpPr>
          <p:cNvPr id="5" name="screenshot-card">
            <a:extLst xmlns:a="http://schemas.openxmlformats.org/drawingml/2006/main">
              <a:ext uri="{FF2B5EF4-FFF2-40B4-BE49-F238E27FC236}">
                <a16:creationId xmlns:a16="http://schemas.microsoft.com/office/drawing/2014/main" id="{5C6767DD-BA6F-47F5-BF45-02B91083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56959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FCCA16E-280B-4CEE-8B45-4F0387A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569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4FF"/>
          </a:solidFill>
          <a:ln xmlns:a="http://schemas.openxmlformats.org/drawingml/2006/main" w="0">
            <a:solidFill>
              <a:srgbClr val="63A4FF"/>
            </a:solidFill>
            <a:prstDash val="solid"/>
          </a:ln>
        </p:spPr>
      </p:sp>
      <p:sp>
        <p:nvSpPr>
          <p:cNvPr id="7" name="card-label">
            <a:extLst xmlns:a="http://schemas.openxmlformats.org/drawingml/2006/main">
              <a:ext uri="{FF2B5EF4-FFF2-40B4-BE49-F238E27FC236}">
                <a16:creationId xmlns:a16="http://schemas.microsoft.com/office/drawing/2014/main" id="{2DA825FF-9383-4A55-A024-EA952DA9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A4FF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63A4FF"/>
                </a:solidFill>
                <a:latin typeface="Roboto Mono"/>
                <a:ea typeface="Roboto Mono"/>
                <a:cs typeface="Roboto Mono"/>
              </a:rPr>
              <a:t>OBSERVED EVIDENCE</a:t>
            </a:r>
          </a:p>
        </p:txBody>
      </p:sp>
      <p:sp>
        <p:nvSpPr>
          <p:cNvPr id="8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617EB924-E47A-4A87-A42F-C4BDD99E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2768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A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9" name="evidence-note">
            <a:extLst xmlns:a="http://schemas.openxmlformats.org/drawingml/2006/main">
              <a:ext uri="{FF2B5EF4-FFF2-40B4-BE49-F238E27FC236}">
                <a16:creationId xmlns:a16="http://schemas.microsoft.com/office/drawing/2014/main" id="{2FD2C8BC-6836-416C-B6BD-8CB289CF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9DA9B7"/>
                </a:solidFill>
                <a:latin typeface="Roboto Mono"/>
                <a:ea typeface="Roboto Mono"/>
                <a:cs typeface="Roboto Mono"/>
              </a:rPr>
              <a:t>Evidence: desktop.png / serial.log / console.log</a:t>
            </a:r>
          </a:p>
        </p:txBody>
      </p:sp>
      <p:sp>
        <p:nvSpPr>
          <p:cNvPr id="10" name="matrix-card">
            <a:extLst xmlns:a="http://schemas.openxmlformats.org/drawingml/2006/main">
              <a:ext uri="{FF2B5EF4-FFF2-40B4-BE49-F238E27FC236}">
                <a16:creationId xmlns:a16="http://schemas.microsoft.com/office/drawing/2014/main" id="{326B4BE9-C73A-4911-A3C8-E93BAB85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48577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11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DA756BF-B24C-4332-BA87-43D61F26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12" name="card-label">
            <a:extLst xmlns:a="http://schemas.openxmlformats.org/drawingml/2006/main">
              <a:ext uri="{FF2B5EF4-FFF2-40B4-BE49-F238E27FC236}">
                <a16:creationId xmlns:a16="http://schemas.microsoft.com/office/drawing/2014/main" id="{950F5588-99E6-4D9E-BA90-F8A4AFD9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43100"/>
            <a:ext cx="455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A45C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D7A45C"/>
                </a:solidFill>
                <a:latin typeface="Roboto Mono"/>
                <a:ea typeface="Roboto Mono"/>
                <a:cs typeface="Roboto Mono"/>
              </a:rPr>
              <a:t>ACTIVE EDITION BOOT MATRIX</a:t>
            </a:r>
          </a:p>
        </p:txBody>
      </p:sp>
      <p:sp>
        <p:nvSpPr>
          <p:cNvPr id="13" name="Home-dot">
            <a:extLst xmlns:a="http://schemas.openxmlformats.org/drawingml/2006/main">
              <a:ext uri="{FF2B5EF4-FFF2-40B4-BE49-F238E27FC236}">
                <a16:creationId xmlns:a16="http://schemas.microsoft.com/office/drawing/2014/main" id="{8E6796AD-AC63-4E30-91FD-24311EA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58E"/>
          </a:solidFill>
          <a:ln xmlns:a="http://schemas.openxmlformats.org/drawingml/2006/main" w="0">
            <a:solidFill>
              <a:srgbClr val="48C58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D5EED-2CC3-4F97-B29F-0044262C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43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4F7FB"/>
                </a:solidFill>
                <a:latin typeface="Roboto"/>
                <a:ea typeface="Roboto"/>
                <a:cs typeface="Roboto"/>
              </a:rPr>
              <a:t>Home</a:t>
            </a:r>
          </a:p>
        </p:txBody>
      </p:sp>
      <p:sp>
        <p:nvSpPr>
          <p:cNvPr id="15" name="pill">
            <a:extLst xmlns:a="http://schemas.openxmlformats.org/drawingml/2006/main">
              <a:ext uri="{FF2B5EF4-FFF2-40B4-BE49-F238E27FC236}">
                <a16:creationId xmlns:a16="http://schemas.microsoft.com/office/drawing/2014/main" id="{28DD7DD4-56E7-441F-B344-3E2B14B9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241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58E"/>
          </a:solidFill>
          <a:ln xmlns:a="http://schemas.openxmlformats.org/drawingml/2006/main" w="9525">
            <a:solidFill>
              <a:srgbClr val="48C58E"/>
            </a:solidFill>
            <a:prstDash val="solid"/>
          </a:ln>
        </p:spPr>
      </p:sp>
      <p:sp>
        <p:nvSpPr>
          <p:cNvPr id="16" name="pill-text">
            <a:extLst xmlns:a="http://schemas.openxmlformats.org/drawingml/2006/main">
              <a:ext uri="{FF2B5EF4-FFF2-40B4-BE49-F238E27FC236}">
                <a16:creationId xmlns:a16="http://schemas.microsoft.com/office/drawing/2014/main" id="{A3DC24BB-5192-45E2-8D40-B6D6D44B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BOOT_PASS_DESKTOP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154E8-03C5-46B5-BA92-28941915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431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975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menu, kernel, initramfs, display manager, desktop all reached</a:t>
            </a:r>
          </a:p>
        </p:txBody>
      </p:sp>
      <p:sp>
        <p:nvSpPr>
          <p:cNvPr id="18" name="row-divider-1">
            <a:extLst xmlns:a="http://schemas.openxmlformats.org/drawingml/2006/main">
              <a:ext uri="{FF2B5EF4-FFF2-40B4-BE49-F238E27FC236}">
                <a16:creationId xmlns:a16="http://schemas.microsoft.com/office/drawing/2014/main" id="{AD31531B-66FF-48BB-95AF-7A1BA708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74F"/>
          </a:solidFill>
          <a:ln xmlns:a="http://schemas.openxmlformats.org/drawingml/2006/main" w="0">
            <a:solidFill>
              <a:srgbClr val="21374F"/>
            </a:solidFill>
            <a:prstDash val="solid"/>
          </a:ln>
        </p:spPr>
      </p:sp>
      <p:sp>
        <p:nvSpPr>
          <p:cNvPr id="19" name="Thunder God-dot">
            <a:extLst xmlns:a="http://schemas.openxmlformats.org/drawingml/2006/main">
              <a:ext uri="{FF2B5EF4-FFF2-40B4-BE49-F238E27FC236}">
                <a16:creationId xmlns:a16="http://schemas.microsoft.com/office/drawing/2014/main" id="{609E6B7D-CB6A-4C36-AE87-3F477723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1E48D-AEED-4F4F-8F46-0D55AC20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52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4F7FB"/>
                </a:solidFill>
                <a:latin typeface="Roboto"/>
                <a:ea typeface="Roboto"/>
                <a:cs typeface="Roboto"/>
              </a:rPr>
              <a:t>Thunder God</a:t>
            </a:r>
          </a:p>
        </p:txBody>
      </p:sp>
      <p:sp>
        <p:nvSpPr>
          <p:cNvPr id="21" name="pill">
            <a:extLst xmlns:a="http://schemas.openxmlformats.org/drawingml/2006/main">
              <a:ext uri="{FF2B5EF4-FFF2-40B4-BE49-F238E27FC236}">
                <a16:creationId xmlns:a16="http://schemas.microsoft.com/office/drawing/2014/main" id="{5EF14221-A3F3-47BD-93FD-9A16DD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337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9525">
            <a:solidFill>
              <a:srgbClr val="D7A45C"/>
            </a:solidFill>
            <a:prstDash val="solid"/>
          </a:ln>
        </p:spPr>
      </p:sp>
      <p:sp>
        <p:nvSpPr>
          <p:cNvPr id="22" name="pill-text">
            <a:extLst xmlns:a="http://schemas.openxmlformats.org/drawingml/2006/main">
              <a:ext uri="{FF2B5EF4-FFF2-40B4-BE49-F238E27FC236}">
                <a16:creationId xmlns:a16="http://schemas.microsoft.com/office/drawing/2014/main" id="{5029E634-C4E8-4ADB-BBCA-7EFCD7E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BOOT_PASS_BOOTLOADER_ONLY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70CC7-6D4B-4969-BFFF-75EAD979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527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975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GRUB reached; kernel not observed</a:t>
            </a:r>
          </a:p>
        </p:txBody>
      </p:sp>
      <p:sp>
        <p:nvSpPr>
          <p:cNvPr id="24" name="row-divider-2">
            <a:extLst xmlns:a="http://schemas.openxmlformats.org/drawingml/2006/main">
              <a:ext uri="{FF2B5EF4-FFF2-40B4-BE49-F238E27FC236}">
                <a16:creationId xmlns:a16="http://schemas.microsoft.com/office/drawing/2014/main" id="{789E9461-BD55-44FE-865B-371013B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74F"/>
          </a:solidFill>
          <a:ln xmlns:a="http://schemas.openxmlformats.org/drawingml/2006/main" w="0">
            <a:solidFill>
              <a:srgbClr val="21374F"/>
            </a:solidFill>
            <a:prstDash val="solid"/>
          </a:ln>
        </p:spPr>
      </p:sp>
      <p:sp>
        <p:nvSpPr>
          <p:cNvPr id="25" name="Aurelia-dot">
            <a:extLst xmlns:a="http://schemas.openxmlformats.org/drawingml/2006/main">
              <a:ext uri="{FF2B5EF4-FFF2-40B4-BE49-F238E27FC236}">
                <a16:creationId xmlns:a16="http://schemas.microsoft.com/office/drawing/2014/main" id="{395B6043-9A37-4C6A-A8B8-1F7CB317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11DF3-D601-48BA-A395-BD6451E7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4F7FB"/>
                </a:solidFill>
                <a:latin typeface="Roboto"/>
                <a:ea typeface="Roboto"/>
                <a:cs typeface="Roboto"/>
              </a:rPr>
              <a:t>Aurelia</a:t>
            </a:r>
          </a:p>
        </p:txBody>
      </p:sp>
      <p:sp>
        <p:nvSpPr>
          <p:cNvPr id="27" name="pill">
            <a:extLst xmlns:a="http://schemas.openxmlformats.org/drawingml/2006/main">
              <a:ext uri="{FF2B5EF4-FFF2-40B4-BE49-F238E27FC236}">
                <a16:creationId xmlns:a16="http://schemas.microsoft.com/office/drawing/2014/main" id="{D38712DF-403F-4253-B75D-BD238A89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9525">
            <a:solidFill>
              <a:srgbClr val="D7A45C"/>
            </a:solidFill>
            <a:prstDash val="solid"/>
          </a:ln>
        </p:spPr>
      </p:sp>
      <p:sp>
        <p:nvSpPr>
          <p:cNvPr id="28" name="pill-text">
            <a:extLst xmlns:a="http://schemas.openxmlformats.org/drawingml/2006/main">
              <a:ext uri="{FF2B5EF4-FFF2-40B4-BE49-F238E27FC236}">
                <a16:creationId xmlns:a16="http://schemas.microsoft.com/office/drawing/2014/main" id="{A4C1C784-FEC8-407B-9C71-608DCDF1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BOOT_PASS_BOOTLOADER_ONLY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51DB64-D382-4A2F-AE2B-61FC0D4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5623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975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GRUB reached; kernel not observed</a:t>
            </a:r>
          </a:p>
        </p:txBody>
      </p:sp>
      <p:sp>
        <p:nvSpPr>
          <p:cNvPr id="30" name="row-divider-3">
            <a:extLst xmlns:a="http://schemas.openxmlformats.org/drawingml/2006/main">
              <a:ext uri="{FF2B5EF4-FFF2-40B4-BE49-F238E27FC236}">
                <a16:creationId xmlns:a16="http://schemas.microsoft.com/office/drawing/2014/main" id="{8059FFFA-8643-4547-A395-99C259D4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74F"/>
          </a:solidFill>
          <a:ln xmlns:a="http://schemas.openxmlformats.org/drawingml/2006/main" w="0">
            <a:solidFill>
              <a:srgbClr val="21374F"/>
            </a:solidFill>
            <a:prstDash val="solid"/>
          </a:ln>
        </p:spPr>
      </p:sp>
      <p:sp>
        <p:nvSpPr>
          <p:cNvPr id="31" name="ARCWYRE-dot">
            <a:extLst xmlns:a="http://schemas.openxmlformats.org/drawingml/2006/main">
              <a:ext uri="{FF2B5EF4-FFF2-40B4-BE49-F238E27FC236}">
                <a16:creationId xmlns:a16="http://schemas.microsoft.com/office/drawing/2014/main" id="{558DF455-4F91-4967-9101-27FC1CFF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32A6B4-6BB9-4755-B89B-91D72EF8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4F7FB"/>
                </a:solidFill>
                <a:latin typeface="Roboto"/>
                <a:ea typeface="Roboto"/>
                <a:cs typeface="Roboto"/>
              </a:rPr>
              <a:t>ARCWYRE</a:t>
            </a:r>
          </a:p>
        </p:txBody>
      </p:sp>
      <p:sp>
        <p:nvSpPr>
          <p:cNvPr id="33" name="pill">
            <a:extLst xmlns:a="http://schemas.openxmlformats.org/drawingml/2006/main">
              <a:ext uri="{FF2B5EF4-FFF2-40B4-BE49-F238E27FC236}">
                <a16:creationId xmlns:a16="http://schemas.microsoft.com/office/drawing/2014/main" id="{23762B17-BE46-4945-BE7A-4D491C59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529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9525">
            <a:solidFill>
              <a:srgbClr val="D7A45C"/>
            </a:solidFill>
            <a:prstDash val="solid"/>
          </a:ln>
        </p:spPr>
      </p:sp>
      <p:sp>
        <p:nvSpPr>
          <p:cNvPr id="34" name="pill-text">
            <a:extLst xmlns:a="http://schemas.openxmlformats.org/drawingml/2006/main">
              <a:ext uri="{FF2B5EF4-FFF2-40B4-BE49-F238E27FC236}">
                <a16:creationId xmlns:a16="http://schemas.microsoft.com/office/drawing/2014/main" id="{11FF5C13-8C5B-45C5-B6A2-A66F7B4D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910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BOOT_PASS_BOOTLOADER_ONLY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380CC-587D-42FE-ABF0-9DCD12AB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719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975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GRUB reached; kernel not observed</a:t>
            </a:r>
          </a:p>
        </p:txBody>
      </p:sp>
      <p:sp>
        <p:nvSpPr>
          <p:cNvPr id="36" name="row-divider-4">
            <a:extLst xmlns:a="http://schemas.openxmlformats.org/drawingml/2006/main">
              <a:ext uri="{FF2B5EF4-FFF2-40B4-BE49-F238E27FC236}">
                <a16:creationId xmlns:a16="http://schemas.microsoft.com/office/drawing/2014/main" id="{B3BA1AB3-C754-429E-9251-A768F73E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74F"/>
          </a:solidFill>
          <a:ln xmlns:a="http://schemas.openxmlformats.org/drawingml/2006/main" w="0">
            <a:solidFill>
              <a:srgbClr val="21374F"/>
            </a:solidFill>
            <a:prstDash val="solid"/>
          </a:ln>
        </p:spPr>
      </p:sp>
      <p:sp>
        <p:nvSpPr>
          <p:cNvPr id="37" name="Native-dot">
            <a:extLst xmlns:a="http://schemas.openxmlformats.org/drawingml/2006/main">
              <a:ext uri="{FF2B5EF4-FFF2-40B4-BE49-F238E27FC236}">
                <a16:creationId xmlns:a16="http://schemas.microsoft.com/office/drawing/2014/main" id="{E15DC28B-39A2-422D-A117-D929A772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7185"/>
          </a:solidFill>
          <a:ln xmlns:a="http://schemas.openxmlformats.org/drawingml/2006/main" w="0">
            <a:solidFill>
              <a:srgbClr val="62718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708448-4EC6-49A1-8FAA-53FE824F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81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200" b="1">
                <a:solidFill>
                  <a:srgbClr val="F4F7FB"/>
                </a:solidFill>
                <a:latin typeface="Roboto"/>
                <a:ea typeface="Roboto"/>
                <a:cs typeface="Roboto"/>
              </a:rPr>
              <a:t>Native</a:t>
            </a:r>
          </a:p>
        </p:txBody>
      </p:sp>
      <p:sp>
        <p:nvSpPr>
          <p:cNvPr id="39" name="pill">
            <a:extLst xmlns:a="http://schemas.openxmlformats.org/drawingml/2006/main">
              <a:ext uri="{FF2B5EF4-FFF2-40B4-BE49-F238E27FC236}">
                <a16:creationId xmlns:a16="http://schemas.microsoft.com/office/drawing/2014/main" id="{EF34BBD9-548F-4C9F-9F79-39AEE7B0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85"/>
          </a:solidFill>
          <a:ln xmlns:a="http://schemas.openxmlformats.org/drawingml/2006/main" w="9525">
            <a:solidFill>
              <a:srgbClr val="627185"/>
            </a:solidFill>
            <a:prstDash val="solid"/>
          </a:ln>
        </p:spPr>
      </p:sp>
      <p:sp>
        <p:nvSpPr>
          <p:cNvPr id="40" name="pill-text">
            <a:extLst xmlns:a="http://schemas.openxmlformats.org/drawingml/2006/main">
              <a:ext uri="{FF2B5EF4-FFF2-40B4-BE49-F238E27FC236}">
                <a16:creationId xmlns:a16="http://schemas.microsoft.com/office/drawing/2014/main" id="{3AC0A613-511E-4C70-A25B-8745A35E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006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NOT_TESTED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C0C553-540E-4CC8-9D7F-87A0BBEB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815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975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research-only; no VM target yet</a:t>
            </a:r>
          </a:p>
        </p:txBody>
      </p:sp>
      <p:sp>
        <p:nvSpPr>
          <p:cNvPr id="42" name="footer-callout">
            <a:extLst xmlns:a="http://schemas.openxmlformats.org/drawingml/2006/main">
              <a:ext uri="{FF2B5EF4-FFF2-40B4-BE49-F238E27FC236}">
                <a16:creationId xmlns:a16="http://schemas.microsoft.com/office/drawing/2014/main" id="{C3AE2A6E-33B1-4031-A02E-6C91BE48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782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43" name="classification">
            <a:extLst xmlns:a="http://schemas.openxmlformats.org/drawingml/2006/main">
              <a:ext uri="{FF2B5EF4-FFF2-40B4-BE49-F238E27FC236}">
                <a16:creationId xmlns:a16="http://schemas.microsoft.com/office/drawing/2014/main" id="{04ED32A1-269A-47B8-8992-48BE68CB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67400"/>
            <a:ext cx="1032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200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Current classification: BOOT_PASS_DESKTOP. failure_point: shutdown. clean_shutdown_verified: false.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9a5903d5e482c"/>
          <a:srcRect xmlns:a="http://schemas.openxmlformats.org/drawingml/2006/main" l="0" t="7004" r="0" b="70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2400300"/>
            <a:ext cx="5048250" cy="2819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7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2A94F21-0287-493C-8CB0-E3B5FF7C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solidFill>
              <a:srgbClr val="071321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36F18DC-496B-4D9A-BF56-1DD43BE3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A4FF"/>
                </a:solidFill>
                <a:latin typeface="Roboto Mono"/>
                <a:ea typeface="Roboto Mono"/>
                <a:cs typeface="Roboto Mono"/>
              </a:defRPr>
            </a:pPr>
            <a:r>
              <a:rPr sz="975" b="1">
                <a:solidFill>
                  <a:srgbClr val="63A4FF"/>
                </a:solidFill>
                <a:latin typeface="Roboto Mono"/>
                <a:ea typeface="Roboto Mono"/>
                <a:cs typeface="Roboto Mono"/>
              </a:rPr>
              <a:t>ROADMAP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7757AC-914A-4546-A6AF-B50A028F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85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PR39C is done. PR40 and PR41 are the next gates.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645263E-4EC1-436B-B5D6-B96D68E7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No new edition work until the boot path is stable and the app launch matrix has real evidence behind it.</a:t>
            </a:r>
          </a:p>
        </p:txBody>
      </p:sp>
      <p:sp>
        <p:nvSpPr>
          <p:cNvPr id="5" name="roadmap-card">
            <a:extLst xmlns:a="http://schemas.openxmlformats.org/drawingml/2006/main">
              <a:ext uri="{FF2B5EF4-FFF2-40B4-BE49-F238E27FC236}">
                <a16:creationId xmlns:a16="http://schemas.microsoft.com/office/drawing/2014/main" id="{CE89AE10-C5A4-46BB-A4FE-83A742EF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5A1B83F-9B59-4E23-938E-7AB35496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85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4FF"/>
          </a:solidFill>
          <a:ln xmlns:a="http://schemas.openxmlformats.org/drawingml/2006/main" w="0">
            <a:solidFill>
              <a:srgbClr val="63A4FF"/>
            </a:solidFill>
            <a:prstDash val="solid"/>
          </a:ln>
        </p:spPr>
      </p:sp>
      <p:sp>
        <p:nvSpPr>
          <p:cNvPr id="7" name="card-label">
            <a:extLst xmlns:a="http://schemas.openxmlformats.org/drawingml/2006/main">
              <a:ext uri="{FF2B5EF4-FFF2-40B4-BE49-F238E27FC236}">
                <a16:creationId xmlns:a16="http://schemas.microsoft.com/office/drawing/2014/main" id="{855E784C-61D1-4B1F-96A7-E29799ED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553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A4FF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63A4FF"/>
                </a:solidFill>
                <a:latin typeface="Roboto Mono"/>
                <a:ea typeface="Roboto Mono"/>
                <a:cs typeface="Roboto Mono"/>
              </a:rPr>
              <a:t>MILESTONES</a:t>
            </a:r>
          </a:p>
        </p:txBody>
      </p:sp>
      <p:sp>
        <p:nvSpPr>
          <p:cNvPr id="8" name="PR39B">
            <a:extLst xmlns:a="http://schemas.openxmlformats.org/drawingml/2006/main">
              <a:ext uri="{FF2B5EF4-FFF2-40B4-BE49-F238E27FC236}">
                <a16:creationId xmlns:a16="http://schemas.microsoft.com/office/drawing/2014/main" id="{8F06597B-29A2-42E0-AA84-9B549E57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48C58E"/>
            </a:solidFill>
            <a:prstDash val="solid"/>
          </a:ln>
        </p:spPr>
      </p:sp>
      <p:sp>
        <p:nvSpPr>
          <p:cNvPr id="9" name="milestone-dot">
            <a:extLst xmlns:a="http://schemas.openxmlformats.org/drawingml/2006/main">
              <a:ext uri="{FF2B5EF4-FFF2-40B4-BE49-F238E27FC236}">
                <a16:creationId xmlns:a16="http://schemas.microsoft.com/office/drawing/2014/main" id="{8561188D-885C-4834-83E6-E635D181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58E"/>
          </a:solidFill>
          <a:ln xmlns:a="http://schemas.openxmlformats.org/drawingml/2006/main" w="0">
            <a:solidFill>
              <a:srgbClr val="48C5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10CF2-AB03-4DCC-AF31-A5999766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PR39B</a:t>
            </a:r>
          </a:p>
        </p:txBody>
      </p:sp>
      <p:sp>
        <p:nvSpPr>
          <p:cNvPr id="11" name="pill">
            <a:extLst xmlns:a="http://schemas.openxmlformats.org/drawingml/2006/main">
              <a:ext uri="{FF2B5EF4-FFF2-40B4-BE49-F238E27FC236}">
                <a16:creationId xmlns:a16="http://schemas.microsoft.com/office/drawing/2014/main" id="{DDE2BCF7-C379-41B4-8AEF-5B1DD019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58E"/>
          </a:solidFill>
          <a:ln xmlns:a="http://schemas.openxmlformats.org/drawingml/2006/main" w="9525">
            <a:solidFill>
              <a:srgbClr val="48C58E"/>
            </a:solidFill>
            <a:prstDash val="solid"/>
          </a:ln>
        </p:spPr>
      </p:sp>
      <p:sp>
        <p:nvSpPr>
          <p:cNvPr id="12" name="pill-text">
            <a:extLst xmlns:a="http://schemas.openxmlformats.org/drawingml/2006/main">
              <a:ext uri="{FF2B5EF4-FFF2-40B4-BE49-F238E27FC236}">
                <a16:creationId xmlns:a16="http://schemas.microsoft.com/office/drawing/2014/main" id="{ACC9D0FD-BED1-43BF-8908-7D59B57E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done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054E4-863F-4E51-9F35-F44B719A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1562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GRUB handoff debug pass. Proved the issue was observability and timeout behavior, not missing payloads.</a:t>
            </a:r>
          </a:p>
        </p:txBody>
      </p:sp>
      <p:sp>
        <p:nvSpPr>
          <p:cNvPr id="14" name="PR39C">
            <a:extLst xmlns:a="http://schemas.openxmlformats.org/drawingml/2006/main">
              <a:ext uri="{FF2B5EF4-FFF2-40B4-BE49-F238E27FC236}">
                <a16:creationId xmlns:a16="http://schemas.microsoft.com/office/drawing/2014/main" id="{649A25CF-C590-436F-A059-48CB9A4F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48C58E"/>
            </a:solidFill>
            <a:prstDash val="solid"/>
          </a:ln>
        </p:spPr>
      </p:sp>
      <p:sp>
        <p:nvSpPr>
          <p:cNvPr id="15" name="milestone-dot">
            <a:extLst xmlns:a="http://schemas.openxmlformats.org/drawingml/2006/main">
              <a:ext uri="{FF2B5EF4-FFF2-40B4-BE49-F238E27FC236}">
                <a16:creationId xmlns:a16="http://schemas.microsoft.com/office/drawing/2014/main" id="{27D91CC7-2129-4E93-9739-99493107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58E"/>
          </a:solidFill>
          <a:ln xmlns:a="http://schemas.openxmlformats.org/drawingml/2006/main" w="0">
            <a:solidFill>
              <a:srgbClr val="48C5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A6E73-96FE-445B-AC9C-6AAFB122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0030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PR39C</a:t>
            </a:r>
          </a:p>
        </p:txBody>
      </p:sp>
      <p:sp>
        <p:nvSpPr>
          <p:cNvPr id="17" name="pill">
            <a:extLst xmlns:a="http://schemas.openxmlformats.org/drawingml/2006/main">
              <a:ext uri="{FF2B5EF4-FFF2-40B4-BE49-F238E27FC236}">
                <a16:creationId xmlns:a16="http://schemas.microsoft.com/office/drawing/2014/main" id="{6F3782D1-BD2F-4170-A45C-AC7A61C2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813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58E"/>
          </a:solidFill>
          <a:ln xmlns:a="http://schemas.openxmlformats.org/drawingml/2006/main" w="9525">
            <a:solidFill>
              <a:srgbClr val="48C58E"/>
            </a:solidFill>
            <a:prstDash val="solid"/>
          </a:ln>
        </p:spPr>
      </p:sp>
      <p:sp>
        <p:nvSpPr>
          <p:cNvPr id="18" name="pill-text">
            <a:extLst xmlns:a="http://schemas.openxmlformats.org/drawingml/2006/main">
              <a:ext uri="{FF2B5EF4-FFF2-40B4-BE49-F238E27FC236}">
                <a16:creationId xmlns:a16="http://schemas.microsoft.com/office/drawing/2014/main" id="{3FE85E02-C8F8-4322-B06D-FF7FB51E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194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done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55B30-2D8D-4600-9DA3-40B4807B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1562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Unattended GRUB handoff, kernel/initramfs reachability, and live desktop confirmation in QEMU.</a:t>
            </a:r>
          </a:p>
        </p:txBody>
      </p:sp>
      <p:sp>
        <p:nvSpPr>
          <p:cNvPr id="20" name="Thunder God ARM64">
            <a:extLst xmlns:a="http://schemas.openxmlformats.org/drawingml/2006/main">
              <a:ext uri="{FF2B5EF4-FFF2-40B4-BE49-F238E27FC236}">
                <a16:creationId xmlns:a16="http://schemas.microsoft.com/office/drawing/2014/main" id="{246AFBA1-C34B-4DA9-9F3B-528A9F56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24100"/>
            <a:ext cx="2209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8A73FF"/>
            </a:solidFill>
            <a:prstDash val="solid"/>
          </a:ln>
        </p:spPr>
      </p:sp>
      <p:sp>
        <p:nvSpPr>
          <p:cNvPr id="21" name="milestone-dot">
            <a:extLst xmlns:a="http://schemas.openxmlformats.org/drawingml/2006/main">
              <a:ext uri="{FF2B5EF4-FFF2-40B4-BE49-F238E27FC236}">
                <a16:creationId xmlns:a16="http://schemas.microsoft.com/office/drawing/2014/main" id="{DC2B0B15-817E-47FB-8890-85D2E00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73FF"/>
          </a:solidFill>
          <a:ln xmlns:a="http://schemas.openxmlformats.org/drawingml/2006/main" w="0">
            <a:solidFill>
              <a:srgbClr val="8A7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C7468-7BAB-4F99-BD8E-9443E17D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00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Thunder God ARM64</a:t>
            </a:r>
          </a:p>
        </p:txBody>
      </p:sp>
      <p:sp>
        <p:nvSpPr>
          <p:cNvPr id="23" name="pill">
            <a:extLst xmlns:a="http://schemas.openxmlformats.org/drawingml/2006/main">
              <a:ext uri="{FF2B5EF4-FFF2-40B4-BE49-F238E27FC236}">
                <a16:creationId xmlns:a16="http://schemas.microsoft.com/office/drawing/2014/main" id="{CC136120-0576-45B9-846B-CE0B716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73FF"/>
          </a:solidFill>
          <a:ln xmlns:a="http://schemas.openxmlformats.org/drawingml/2006/main" w="9525">
            <a:solidFill>
              <a:srgbClr val="8A73FF"/>
            </a:solidFill>
            <a:prstDash val="solid"/>
          </a:ln>
        </p:spPr>
      </p:sp>
      <p:sp>
        <p:nvSpPr>
          <p:cNvPr id="24" name="pill-text">
            <a:extLst xmlns:a="http://schemas.openxmlformats.org/drawingml/2006/main">
              <a:ext uri="{FF2B5EF4-FFF2-40B4-BE49-F238E27FC236}">
                <a16:creationId xmlns:a16="http://schemas.microsoft.com/office/drawing/2014/main" id="{82B3472D-EEB7-4F47-85FC-F7FDA0C6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194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next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CDE372-0540-4E15-AB5D-2104EFF9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8135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Build the flagship ARM artifact and record it in the registry and VM matrix.</a:t>
            </a:r>
          </a:p>
        </p:txBody>
      </p:sp>
      <p:sp>
        <p:nvSpPr>
          <p:cNvPr id="26" name="PR40">
            <a:extLst xmlns:a="http://schemas.openxmlformats.org/drawingml/2006/main">
              <a:ext uri="{FF2B5EF4-FFF2-40B4-BE49-F238E27FC236}">
                <a16:creationId xmlns:a16="http://schemas.microsoft.com/office/drawing/2014/main" id="{46A672D9-E900-4AB5-A39F-3DD628EF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190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D7A45C"/>
            </a:solidFill>
            <a:prstDash val="solid"/>
          </a:ln>
        </p:spPr>
      </p:sp>
      <p:sp>
        <p:nvSpPr>
          <p:cNvPr id="27" name="milestone-dot">
            <a:extLst xmlns:a="http://schemas.openxmlformats.org/drawingml/2006/main">
              <a:ext uri="{FF2B5EF4-FFF2-40B4-BE49-F238E27FC236}">
                <a16:creationId xmlns:a16="http://schemas.microsoft.com/office/drawing/2014/main" id="{7CB33831-C5E3-4375-BD99-8B0FB062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ED48A-A62E-4A0C-9AF2-161F96A9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PR40</a:t>
            </a:r>
          </a:p>
        </p:txBody>
      </p:sp>
      <p:sp>
        <p:nvSpPr>
          <p:cNvPr id="29" name="pill">
            <a:extLst xmlns:a="http://schemas.openxmlformats.org/drawingml/2006/main">
              <a:ext uri="{FF2B5EF4-FFF2-40B4-BE49-F238E27FC236}">
                <a16:creationId xmlns:a16="http://schemas.microsoft.com/office/drawing/2014/main" id="{808994FD-0322-4200-BCC3-3E34B38B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9525">
            <a:solidFill>
              <a:srgbClr val="D7A45C"/>
            </a:solidFill>
            <a:prstDash val="solid"/>
          </a:ln>
        </p:spPr>
      </p:sp>
      <p:sp>
        <p:nvSpPr>
          <p:cNvPr id="30" name="pill-text">
            <a:extLst xmlns:a="http://schemas.openxmlformats.org/drawingml/2006/main">
              <a:ext uri="{FF2B5EF4-FFF2-40B4-BE49-F238E27FC236}">
                <a16:creationId xmlns:a16="http://schemas.microsoft.com/office/drawing/2014/main" id="{CD625D4D-0F13-446C-9D1E-4BA63704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813705-8AFD-453E-BF4D-6E98EBCC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1562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App launch matrix: record actual launch behavior for the active app set.</a:t>
            </a:r>
          </a:p>
        </p:txBody>
      </p:sp>
      <p:sp>
        <p:nvSpPr>
          <p:cNvPr id="32" name="PR41">
            <a:extLst xmlns:a="http://schemas.openxmlformats.org/drawingml/2006/main">
              <a:ext uri="{FF2B5EF4-FFF2-40B4-BE49-F238E27FC236}">
                <a16:creationId xmlns:a16="http://schemas.microsoft.com/office/drawing/2014/main" id="{2D66A0C5-7312-4005-98C4-A411497C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81450"/>
            <a:ext cx="428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E26F7A"/>
            </a:solidFill>
            <a:prstDash val="solid"/>
          </a:ln>
        </p:spPr>
      </p:sp>
      <p:sp>
        <p:nvSpPr>
          <p:cNvPr id="33" name="milestone-dot">
            <a:extLst xmlns:a="http://schemas.openxmlformats.org/drawingml/2006/main">
              <a:ext uri="{FF2B5EF4-FFF2-40B4-BE49-F238E27FC236}">
                <a16:creationId xmlns:a16="http://schemas.microsoft.com/office/drawing/2014/main" id="{22062868-BBB7-441C-B835-4063E2B7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6F7A"/>
          </a:solidFill>
          <a:ln xmlns:a="http://schemas.openxmlformats.org/drawingml/2006/main" w="0">
            <a:solidFill>
              <a:srgbClr val="E26F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F7B0E2-AF95-4992-9C36-75AF522E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57650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4F7FB"/>
                </a:solidFill>
                <a:latin typeface="Montserrat"/>
                <a:ea typeface="Montserrat"/>
                <a:cs typeface="Montserrat"/>
              </a:rPr>
              <a:t>PR41</a:t>
            </a:r>
          </a:p>
        </p:txBody>
      </p:sp>
      <p:sp>
        <p:nvSpPr>
          <p:cNvPr id="35" name="pill">
            <a:extLst xmlns:a="http://schemas.openxmlformats.org/drawingml/2006/main">
              <a:ext uri="{FF2B5EF4-FFF2-40B4-BE49-F238E27FC236}">
                <a16:creationId xmlns:a16="http://schemas.microsoft.com/office/drawing/2014/main" id="{9E7E2ED9-E593-41A8-977D-FE2D9E60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386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F7A"/>
          </a:solidFill>
          <a:ln xmlns:a="http://schemas.openxmlformats.org/drawingml/2006/main" w="9525">
            <a:solidFill>
              <a:srgbClr val="E26F7A"/>
            </a:solidFill>
            <a:prstDash val="solid"/>
          </a:ln>
        </p:spPr>
      </p:sp>
      <p:sp>
        <p:nvSpPr>
          <p:cNvPr id="36" name="pill-text">
            <a:extLst xmlns:a="http://schemas.openxmlformats.org/drawingml/2006/main">
              <a:ext uri="{FF2B5EF4-FFF2-40B4-BE49-F238E27FC236}">
                <a16:creationId xmlns:a16="http://schemas.microsoft.com/office/drawing/2014/main" id="{4AAC3332-0B6D-4BF9-A828-92605931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76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blocked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91F3F7-734E-4ABA-9533-F6862F15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3870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Release candidate gate. No promotion until registry, boot, telemetry, app launch, and safety evidence agree.</a:t>
            </a:r>
          </a:p>
        </p:txBody>
      </p:sp>
      <p:sp>
        <p:nvSpPr>
          <p:cNvPr id="38" name="gate-card">
            <a:extLst xmlns:a="http://schemas.openxmlformats.org/drawingml/2006/main">
              <a:ext uri="{FF2B5EF4-FFF2-40B4-BE49-F238E27FC236}">
                <a16:creationId xmlns:a16="http://schemas.microsoft.com/office/drawing/2014/main" id="{60720B5E-47B8-45D4-834A-5C834BCB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9750"/>
            <a:ext cx="3695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3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F46AC5A-00D9-4B9D-B54B-8CCC93B6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9750"/>
            <a:ext cx="3695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0">
            <a:solidFill>
              <a:srgbClr val="D7A45C"/>
            </a:solidFill>
            <a:prstDash val="solid"/>
          </a:ln>
        </p:spPr>
      </p:sp>
      <p:sp>
        <p:nvSpPr>
          <p:cNvPr id="40" name="card-label">
            <a:extLst xmlns:a="http://schemas.openxmlformats.org/drawingml/2006/main">
              <a:ext uri="{FF2B5EF4-FFF2-40B4-BE49-F238E27FC236}">
                <a16:creationId xmlns:a16="http://schemas.microsoft.com/office/drawing/2014/main" id="{2C0A5DED-77DB-471F-96CC-71ADE739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39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A45C"/>
                </a:solidFill>
                <a:latin typeface="Roboto Mono"/>
                <a:ea typeface="Roboto Mono"/>
                <a:cs typeface="Roboto Mono"/>
              </a:defRPr>
            </a:pPr>
            <a:r>
              <a:rPr sz="900" b="1">
                <a:solidFill>
                  <a:srgbClr val="D7A45C"/>
                </a:solidFill>
                <a:latin typeface="Roboto Mono"/>
                <a:ea typeface="Roboto Mono"/>
                <a:cs typeface="Roboto Mono"/>
              </a:rPr>
              <a:t>RELEASE GATE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980F2A-9F5B-434A-9834-4F826AF6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3067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4F7FB"/>
                </a:solidFill>
                <a:latin typeface="Roboto"/>
                <a:ea typeface="Roboto"/>
                <a:cs typeface="Roboto"/>
              </a:rPr>
              <a:t>Artifact provenance</a:t>
            </a:r>
          </a:p>
        </p:txBody>
      </p:sp>
      <p:sp>
        <p:nvSpPr>
          <p:cNvPr id="42" name="pill">
            <a:extLst xmlns:a="http://schemas.openxmlformats.org/drawingml/2006/main">
              <a:ext uri="{FF2B5EF4-FFF2-40B4-BE49-F238E27FC236}">
                <a16:creationId xmlns:a16="http://schemas.microsoft.com/office/drawing/2014/main" id="{3C8C540A-5D91-4E69-923B-CA17EA97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241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58E"/>
          </a:solidFill>
          <a:ln xmlns:a="http://schemas.openxmlformats.org/drawingml/2006/main" w="9525">
            <a:solidFill>
              <a:srgbClr val="48C58E"/>
            </a:solidFill>
            <a:prstDash val="solid"/>
          </a:ln>
        </p:spPr>
      </p:sp>
      <p:sp>
        <p:nvSpPr>
          <p:cNvPr id="43" name="pill-text">
            <a:extLst xmlns:a="http://schemas.openxmlformats.org/drawingml/2006/main">
              <a:ext uri="{FF2B5EF4-FFF2-40B4-BE49-F238E27FC236}">
                <a16:creationId xmlns:a16="http://schemas.microsoft.com/office/drawing/2014/main" id="{CA4546FA-76EC-40E1-803E-D93605E2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622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pass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2F1A18-ED20-4F85-866D-92ECB059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067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4F7FB"/>
                </a:solidFill>
                <a:latin typeface="Roboto"/>
                <a:ea typeface="Roboto"/>
                <a:cs typeface="Roboto"/>
              </a:rPr>
              <a:t>VM boot matrix</a:t>
            </a:r>
          </a:p>
        </p:txBody>
      </p:sp>
      <p:sp>
        <p:nvSpPr>
          <p:cNvPr id="45" name="pill">
            <a:extLst xmlns:a="http://schemas.openxmlformats.org/drawingml/2006/main">
              <a:ext uri="{FF2B5EF4-FFF2-40B4-BE49-F238E27FC236}">
                <a16:creationId xmlns:a16="http://schemas.microsoft.com/office/drawing/2014/main" id="{F22EF044-60DA-4741-A3E3-162CA0C4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384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45C"/>
          </a:solidFill>
          <a:ln xmlns:a="http://schemas.openxmlformats.org/drawingml/2006/main" w="9525">
            <a:solidFill>
              <a:srgbClr val="D7A45C"/>
            </a:solidFill>
            <a:prstDash val="solid"/>
          </a:ln>
        </p:spPr>
      </p:sp>
      <p:sp>
        <p:nvSpPr>
          <p:cNvPr id="46" name="pill-text">
            <a:extLst xmlns:a="http://schemas.openxmlformats.org/drawingml/2006/main">
              <a:ext uri="{FF2B5EF4-FFF2-40B4-BE49-F238E27FC236}">
                <a16:creationId xmlns:a16="http://schemas.microsoft.com/office/drawing/2014/main" id="{16CA9F25-8181-4C46-850C-4DE79703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765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partial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7EC0DC-E3CF-418B-A81C-CC0246A6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3067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4F7FB"/>
                </a:solidFill>
                <a:latin typeface="Roboto"/>
                <a:ea typeface="Roboto"/>
                <a:cs typeface="Roboto"/>
              </a:rPr>
              <a:t>App launch matrix</a:t>
            </a:r>
          </a:p>
        </p:txBody>
      </p:sp>
      <p:sp>
        <p:nvSpPr>
          <p:cNvPr id="48" name="pill">
            <a:extLst xmlns:a="http://schemas.openxmlformats.org/drawingml/2006/main">
              <a:ext uri="{FF2B5EF4-FFF2-40B4-BE49-F238E27FC236}">
                <a16:creationId xmlns:a16="http://schemas.microsoft.com/office/drawing/2014/main" id="{0E5F359B-7EB5-46DB-94A0-1B920DAA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528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49" name="pill-text">
            <a:extLst xmlns:a="http://schemas.openxmlformats.org/drawingml/2006/main">
              <a:ext uri="{FF2B5EF4-FFF2-40B4-BE49-F238E27FC236}">
                <a16:creationId xmlns:a16="http://schemas.microsoft.com/office/drawing/2014/main" id="{1AFCD006-11ED-44B4-B858-FBBEB44E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90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pending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80B618-0B6D-47F4-8176-9705E65C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3067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4F7FB"/>
                </a:solidFill>
                <a:latin typeface="Roboto"/>
                <a:ea typeface="Roboto"/>
                <a:cs typeface="Roboto"/>
              </a:rPr>
              <a:t>Safety validation</a:t>
            </a:r>
          </a:p>
        </p:txBody>
      </p:sp>
      <p:sp>
        <p:nvSpPr>
          <p:cNvPr id="51" name="pill">
            <a:extLst xmlns:a="http://schemas.openxmlformats.org/drawingml/2006/main">
              <a:ext uri="{FF2B5EF4-FFF2-40B4-BE49-F238E27FC236}">
                <a16:creationId xmlns:a16="http://schemas.microsoft.com/office/drawing/2014/main" id="{B7561520-4772-4B8E-B272-10F88E66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671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45"/>
          </a:solidFill>
          <a:ln xmlns:a="http://schemas.openxmlformats.org/drawingml/2006/main" w="9525">
            <a:solidFill>
              <a:srgbClr val="21374F"/>
            </a:solidFill>
            <a:prstDash val="solid"/>
          </a:ln>
        </p:spPr>
      </p:sp>
      <p:sp>
        <p:nvSpPr>
          <p:cNvPr id="52" name="pill-text">
            <a:extLst xmlns:a="http://schemas.openxmlformats.org/drawingml/2006/main">
              <a:ext uri="{FF2B5EF4-FFF2-40B4-BE49-F238E27FC236}">
                <a16:creationId xmlns:a16="http://schemas.microsoft.com/office/drawing/2014/main" id="{C0FADD42-8777-4478-B8FA-02954B35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052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4F7FB"/>
                </a:solidFill>
                <a:latin typeface="Roboto Mono"/>
                <a:ea typeface="Roboto Mono"/>
                <a:cs typeface="Roboto Mono"/>
              </a:rPr>
              <a:t>pending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20CE70-3AA9-44A1-8D7A-CF641E8B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00550"/>
            <a:ext cx="3067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F4F7FB"/>
                </a:solidFill>
                <a:latin typeface="Roboto"/>
                <a:ea typeface="Roboto"/>
                <a:cs typeface="Roboto"/>
              </a:rPr>
              <a:t>Release candidate</a:t>
            </a:r>
          </a:p>
        </p:txBody>
      </p:sp>
      <p:sp>
        <p:nvSpPr>
          <p:cNvPr id="54" name="pill">
            <a:extLst xmlns:a="http://schemas.openxmlformats.org/drawingml/2006/main">
              <a:ext uri="{FF2B5EF4-FFF2-40B4-BE49-F238E27FC236}">
                <a16:creationId xmlns:a16="http://schemas.microsoft.com/office/drawing/2014/main" id="{B1E99507-77F8-40DF-8247-EC543366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815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F7A"/>
          </a:solidFill>
          <a:ln xmlns:a="http://schemas.openxmlformats.org/drawingml/2006/main" w="9525">
            <a:solidFill>
              <a:srgbClr val="E26F7A"/>
            </a:solidFill>
            <a:prstDash val="solid"/>
          </a:ln>
        </p:spPr>
      </p:sp>
      <p:sp>
        <p:nvSpPr>
          <p:cNvPr id="55" name="pill-text">
            <a:extLst xmlns:a="http://schemas.openxmlformats.org/drawingml/2006/main">
              <a:ext uri="{FF2B5EF4-FFF2-40B4-BE49-F238E27FC236}">
                <a16:creationId xmlns:a16="http://schemas.microsoft.com/office/drawing/2014/main" id="{B15002C3-C949-4E1F-B44C-6BCC6CE8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96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defRPr>
            </a:pPr>
            <a:r>
              <a:rPr sz="105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blocked</a:t>
            </a:r>
          </a:p>
        </p:txBody>
      </p:sp>
      <p:sp>
        <p:nvSpPr>
          <p:cNvPr id="56" name="gate-divider">
            <a:extLst xmlns:a="http://schemas.openxmlformats.org/drawingml/2006/main">
              <a:ext uri="{FF2B5EF4-FFF2-40B4-BE49-F238E27FC236}">
                <a16:creationId xmlns:a16="http://schemas.microsoft.com/office/drawing/2014/main" id="{ECD14E66-AC6D-44ED-9BBD-A7282D25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74F"/>
          </a:solidFill>
          <a:ln xmlns:a="http://schemas.openxmlformats.org/drawingml/2006/main" w="0">
            <a:solidFill>
              <a:srgbClr val="21374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8031D6-EFCA-40D0-AC58-2DDD44FA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A9B7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9DA9B7"/>
                </a:solidFill>
                <a:latin typeface="Roboto"/>
                <a:ea typeface="Roboto"/>
                <a:cs typeface="Roboto"/>
              </a:rPr>
              <a:t>The rule is simple: no boot success claim without observed stage evidence and a specific artifact hash.</a:t>
            </a:r>
          </a:p>
        </p:txBody>
      </p:sp>
    </p:spTree>
    <p:extLst>
      <p:ext uri="{BB962C8B-B14F-4D97-AF65-F5344CB8AC3E}">
        <p14:creationId xmlns:p14="http://schemas.microsoft.com/office/powerpoint/2010/main" val="1632913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2026-05-23T16:04:21.1180000Z</dcterms:created>
  <dcterms:modified xsi:type="dcterms:W3CDTF">2026-05-23T16:04:21.1180000Z</dcterms:modified>
</coreProperties>
</file>